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83" r:id="rId4"/>
    <p:sldId id="284" r:id="rId5"/>
    <p:sldId id="285" r:id="rId6"/>
    <p:sldId id="257" r:id="rId7"/>
    <p:sldId id="258" r:id="rId8"/>
    <p:sldId id="259" r:id="rId9"/>
    <p:sldId id="260" r:id="rId10"/>
    <p:sldId id="286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6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8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 &amp; Dashboards em Power BI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#2 · INFOR 2025/26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731520"/>
            <a:ext cx="2468880" cy="3566160"/>
          </a:xfrm>
          <a:prstGeom prst="rect">
            <a:avLst/>
          </a:prstGeom>
          <a:solidFill>
            <a:srgbClr val="142B52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05 · Turma 3DH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2286000" cy="566928"/>
          </a:xfrm>
          <a:prstGeom prst="rect">
            <a:avLst/>
          </a:prstGeom>
          <a:solidFill>
            <a:srgbClr val="1A3562"/>
          </a:solidFill>
          <a:ln w="12700">
            <a:solidFill>
              <a:srgbClr val="1A3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Martins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1609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1230679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984248"/>
            <a:ext cx="2286000" cy="566928"/>
          </a:xfrm>
          <a:prstGeom prst="rect">
            <a:avLst/>
          </a:prstGeom>
          <a:solidFill>
            <a:srgbClr val="1A3562"/>
          </a:solidFill>
          <a:ln w="12700">
            <a:solidFill>
              <a:srgbClr val="1A3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Malojo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1230975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642616"/>
            <a:ext cx="2286000" cy="566928"/>
          </a:xfrm>
          <a:prstGeom prst="rect">
            <a:avLst/>
          </a:prstGeom>
          <a:solidFill>
            <a:srgbClr val="1A3562"/>
          </a:solidFill>
          <a:ln w="12700">
            <a:solidFill>
              <a:srgbClr val="1A3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Moreira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1190546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300984"/>
            <a:ext cx="2286000" cy="566928"/>
          </a:xfrm>
          <a:prstGeom prst="rect">
            <a:avLst/>
          </a:prstGeom>
          <a:solidFill>
            <a:srgbClr val="1A3562"/>
          </a:solidFill>
          <a:ln w="12700">
            <a:solidFill>
              <a:srgbClr val="1A35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Simão Lopes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584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1220779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ISEP · 2025/26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600" dirty="0"/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1C65F587-373A-5842-971C-6ED26131CA6D}"/>
              </a:ext>
            </a:extLst>
          </p:cNvPr>
          <p:cNvGrpSpPr/>
          <p:nvPr/>
        </p:nvGrpSpPr>
        <p:grpSpPr>
          <a:xfrm>
            <a:off x="314162" y="1577340"/>
            <a:ext cx="4114800" cy="1051560"/>
            <a:chOff x="365760" y="1005840"/>
            <a:chExt cx="4114800" cy="1051560"/>
          </a:xfrm>
        </p:grpSpPr>
        <p:sp>
          <p:nvSpPr>
            <p:cNvPr id="4" name="Shape 2"/>
            <p:cNvSpPr/>
            <p:nvPr/>
          </p:nvSpPr>
          <p:spPr>
            <a:xfrm>
              <a:off x="365760" y="1005840"/>
              <a:ext cx="4114800" cy="10515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1005840"/>
              <a:ext cx="73152" cy="10515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2920" y="1078992"/>
              <a:ext cx="548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02920" y="140817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Distribuição de Trabalho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68249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Responsabilidades por membro do grupo</a:t>
              </a:r>
              <a:endParaRPr lang="en-US" sz="1000" dirty="0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BD8CFCC-813E-F66D-B43C-8C3A79C74632}"/>
              </a:ext>
            </a:extLst>
          </p:cNvPr>
          <p:cNvGrpSpPr/>
          <p:nvPr/>
        </p:nvGrpSpPr>
        <p:grpSpPr>
          <a:xfrm>
            <a:off x="320040" y="3209544"/>
            <a:ext cx="4114800" cy="1051560"/>
            <a:chOff x="365760" y="2240280"/>
            <a:chExt cx="4114800" cy="1051560"/>
          </a:xfrm>
        </p:grpSpPr>
        <p:sp>
          <p:nvSpPr>
            <p:cNvPr id="9" name="Shape 7"/>
            <p:cNvSpPr/>
            <p:nvPr/>
          </p:nvSpPr>
          <p:spPr>
            <a:xfrm>
              <a:off x="365760" y="2240280"/>
              <a:ext cx="4114800" cy="10515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65760" y="2240280"/>
              <a:ext cx="73152" cy="10515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02920" y="2313432"/>
              <a:ext cx="548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2920" y="264261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Modelo de Dados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" y="291693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Estrutura em estrela — tabelas e relações</a:t>
              </a:r>
              <a:endParaRPr lang="en-US" sz="1000" dirty="0"/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95DDE462-E616-10D3-2562-AE27F5D79392}"/>
              </a:ext>
            </a:extLst>
          </p:cNvPr>
          <p:cNvGrpSpPr/>
          <p:nvPr/>
        </p:nvGrpSpPr>
        <p:grpSpPr>
          <a:xfrm>
            <a:off x="4846320" y="1577340"/>
            <a:ext cx="4114800" cy="1051560"/>
            <a:chOff x="365760" y="3474720"/>
            <a:chExt cx="4114800" cy="1051560"/>
          </a:xfrm>
        </p:grpSpPr>
        <p:sp>
          <p:nvSpPr>
            <p:cNvPr id="14" name="Shape 12"/>
            <p:cNvSpPr/>
            <p:nvPr/>
          </p:nvSpPr>
          <p:spPr>
            <a:xfrm>
              <a:off x="365760" y="3474720"/>
              <a:ext cx="4114800" cy="10515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365760" y="3474720"/>
              <a:ext cx="73152" cy="10515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02920" y="3547872"/>
              <a:ext cx="548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" y="387705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Tratamento de Dados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415137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Limpeza, tipos e transformações no Power Query</a:t>
              </a:r>
              <a:endParaRPr lang="en-US" sz="10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7DC50E20-4B94-F50E-9B44-C289BD6DB62A}"/>
              </a:ext>
            </a:extLst>
          </p:cNvPr>
          <p:cNvGrpSpPr/>
          <p:nvPr/>
        </p:nvGrpSpPr>
        <p:grpSpPr>
          <a:xfrm>
            <a:off x="4846320" y="3209544"/>
            <a:ext cx="4114800" cy="1051560"/>
            <a:chOff x="4846320" y="1005840"/>
            <a:chExt cx="4114800" cy="1051560"/>
          </a:xfrm>
        </p:grpSpPr>
        <p:sp>
          <p:nvSpPr>
            <p:cNvPr id="19" name="Shape 17"/>
            <p:cNvSpPr/>
            <p:nvPr/>
          </p:nvSpPr>
          <p:spPr>
            <a:xfrm>
              <a:off x="4846320" y="1005840"/>
              <a:ext cx="4114800" cy="10515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846320" y="1005840"/>
              <a:ext cx="73152" cy="10515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983480" y="1078992"/>
              <a:ext cx="548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8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983480" y="140817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Dashboards #1 - #6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983480" y="168249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Visão geral dos 6 dashboards desenvolvidos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Trabalho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Martins  ·  1230679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individual: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#6 Reclamações de Clientes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6850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dados, Power Query, medidas DAX base, dashboards #1 e #6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Malojo  ·  1230975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individual: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673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Devoluções de Clientes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#3 — Gestão de Devoluções de Clientes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Moreira  ·  1190546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individual: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Recursos Humanos e Onboarding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09847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187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#5 — Gestão de Recursos Humanos e Onboarding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04495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Simão Lopes  ·  1220779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individual: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Abastecimento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#4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Promocionais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09847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187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#2 — Cadeia de Abastecimento e #4 — Campanhas Promocionais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— Esquema em Estrela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9072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19072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9544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9544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0016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0488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0488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960120"/>
            <a:ext cx="1234440" cy="502920"/>
          </a:xfrm>
          <a:prstGeom prst="rect">
            <a:avLst/>
          </a:prstGeom>
          <a:solidFill>
            <a:srgbClr val="3B1FA8"/>
          </a:solidFill>
          <a:ln w="6350">
            <a:solidFill>
              <a:srgbClr val="5B3F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4904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3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DIMENSÕES  (lado 1 das relações)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19072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19072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9544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9544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Devolucoes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0016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0016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Reclamacoes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0488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0488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0960" y="3017520"/>
            <a:ext cx="1234440" cy="502920"/>
          </a:xfrm>
          <a:prstGeom prst="rect">
            <a:avLst/>
          </a:prstGeom>
          <a:solidFill>
            <a:srgbClr val="B91C1C"/>
          </a:solidFill>
          <a:ln w="63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Stock_Mov.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5478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FACTOS  (lado * das relações)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10312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74320" y="388620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principais: Calendario[Date] → todas as datas dos factos  ·  Produtos[ID_Produto] → Vendas, Encomendas, Reclamacoes, Stock_Movimentos  ·  Lojas[ID_Loja] → Vendas, Stock_Movimentos  ·  Fornecedores[ID_Fornecedor] → Encomendas  ·  Colaboradores[ID_Colaborador] → Onboarding  ·  Campanhas[ID_Campanha] → Vendas (inativa — evita caminho ambíguo)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— Power Query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Loja_Canal dividida em ID_Loja + Canal_Venda pelo delimiter '|'.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Preco_Unitario de texto → Decimal. Nulls em ID_Produto e ID_Campanha mantidos.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33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Salario_Bruto: remove '€ ', separador de milhares '.', substitui ',' por '.'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Decimal Number com locale EN-US. Data_Saida nula = colaborador ativo (válido).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Valor_Reembolso: mesmo processo que Salario_Bruto ('€ 89,39' → Decimal).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Data_Processamento nula = devolução ainda não processada (válido).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Reclamacoes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3347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normalização de capitalização ('email'→'Email', 'Loja fisica'→'Loja Física').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NPS_Pos_Reclamacao: tipos mistos — remove ' em 10', converte para Inteiro.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Dt_Enc em formato DD-MM-YYYY → Data com locale pt-PT.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em datas de entrega válidos para encomendas Pendentes/Rejeitadas.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593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(Produtos, Lojas, Fornecedores, Colaboradores) carregadas só do ficheiro 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Factos: Append das 4 fontes → 50.621 vendas, 6.538 encomendas, 5.130 devoluções.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Empresa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Transversal — todos os processos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Mariana Martins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Visão Geral da Empresa — Dashboard</a:t>
            </a:r>
            <a:endParaRPr lang="en-US" sz="1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110FCB2-238E-8B3A-5AD3-B5E165F08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" y="685800"/>
            <a:ext cx="7073537" cy="44576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Visão Geral da Empresa — Lógica de Representação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Simples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dirty="0"/>
              <a:t>O</a:t>
            </a:r>
            <a:r>
              <a:rPr lang="pt-PT" sz="900" b="1" dirty="0"/>
              <a:t> Volume de Negócios</a:t>
            </a:r>
            <a:r>
              <a:rPr lang="pt-PT" sz="900" dirty="0"/>
              <a:t>, </a:t>
            </a:r>
            <a:r>
              <a:rPr lang="pt-PT" sz="900" b="1" dirty="0"/>
              <a:t>Margem Bruta</a:t>
            </a:r>
            <a:r>
              <a:rPr lang="pt-PT" sz="900" dirty="0"/>
              <a:t>, </a:t>
            </a:r>
            <a:r>
              <a:rPr lang="pt-PT" sz="900" b="1" dirty="0"/>
              <a:t>Total de Transações</a:t>
            </a:r>
            <a:r>
              <a:rPr lang="pt-PT" sz="900" dirty="0"/>
              <a:t>,</a:t>
            </a:r>
            <a:r>
              <a:rPr lang="pt-PT" sz="900" b="1" dirty="0"/>
              <a:t> Taxa de Devolução </a:t>
            </a:r>
            <a:r>
              <a:rPr lang="pt-PT" sz="900" dirty="0"/>
              <a:t>e </a:t>
            </a:r>
            <a:r>
              <a:rPr lang="pt-PT" sz="900" b="1" dirty="0"/>
              <a:t>Ticket Médio </a:t>
            </a:r>
            <a:r>
              <a:rPr lang="pt-PT" sz="900" dirty="0"/>
              <a:t>não têm um objetivo de comparação definido, por isso, usar KPI visual mostraria sempre vermelho, o que seria enganoso. O </a:t>
            </a:r>
            <a:r>
              <a:rPr lang="pt-PT" sz="900" dirty="0" err="1"/>
              <a:t>Card</a:t>
            </a:r>
            <a:r>
              <a:rPr lang="pt-PT" sz="900" dirty="0"/>
              <a:t> é o formato mais eficiente para leitura rápida, e reservar o verde/vermelho apenas para métricas com target real garante que a cor mantém significado.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Visual (verde/vermelho)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b="1" dirty="0"/>
              <a:t>Crescimento Anual de Vendas </a:t>
            </a:r>
            <a:r>
              <a:rPr lang="pt-PT" sz="900" dirty="0"/>
              <a:t>e </a:t>
            </a:r>
            <a:r>
              <a:rPr lang="pt-PT" sz="900" b="1" dirty="0"/>
              <a:t>Vendas YTD </a:t>
            </a:r>
            <a:r>
              <a:rPr lang="pt-PT" sz="900" dirty="0"/>
              <a:t>têm como target natural o mesmo período do ano anterior, um </a:t>
            </a:r>
            <a:r>
              <a:rPr lang="pt-PT" sz="900" dirty="0" err="1"/>
              <a:t>benchmark</a:t>
            </a:r>
            <a:r>
              <a:rPr lang="pt-PT" sz="900" dirty="0"/>
              <a:t> sempre disponível nos dados. O verde/vermelho comunica imediatamente se houve melhoria ou retrocesso, sendo esta codificação de cor explicitamente exigida pelo enunciado para o </a:t>
            </a:r>
            <a:r>
              <a:rPr lang="pt-PT" sz="900" b="1" dirty="0"/>
              <a:t>Crescimento Anual</a:t>
            </a:r>
            <a:r>
              <a:rPr lang="pt-PT" sz="900" dirty="0"/>
              <a:t>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560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dirty="0"/>
              <a:t>A </a:t>
            </a:r>
            <a:r>
              <a:rPr lang="pt-PT" sz="900" b="1" dirty="0"/>
              <a:t>Evolução Mensal de Vendas </a:t>
            </a:r>
            <a:r>
              <a:rPr lang="pt-PT" sz="900" dirty="0"/>
              <a:t>requer um gráfico de linhas porque o objetivo é mostrar continuidade temporal, a ligação entre meses é tão importante quanto os valores individuais. A linha de tendência sobreposta permite identificar a direção geral do negócio independentemente da sazonalidade mensal.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(×2)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560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b="1" dirty="0"/>
              <a:t>Canal Online </a:t>
            </a:r>
            <a:r>
              <a:rPr lang="pt-PT" sz="900" b="1" dirty="0" err="1"/>
              <a:t>vs</a:t>
            </a:r>
            <a:r>
              <a:rPr lang="pt-PT" sz="900" b="1" dirty="0"/>
              <a:t> Loja Física </a:t>
            </a:r>
            <a:r>
              <a:rPr lang="pt-PT" sz="900" dirty="0"/>
              <a:t>e </a:t>
            </a:r>
            <a:r>
              <a:rPr lang="pt-PT" sz="900" b="1" dirty="0"/>
              <a:t>Vendas por Segmento </a:t>
            </a:r>
            <a:r>
              <a:rPr lang="pt-PT" sz="900" dirty="0"/>
              <a:t>têm poucas categorias (2 e 3 respetivamente) onde o objetivo é mostrar a quota relativa de cada parte no total, contexto onde o donut é mais eficaz do que barras. A diversidade de tipos de visual na página melhora a leitura e evita que o </a:t>
            </a:r>
            <a:r>
              <a:rPr lang="pt-PT" sz="900" dirty="0" err="1"/>
              <a:t>dashboard</a:t>
            </a:r>
            <a:r>
              <a:rPr lang="pt-PT" sz="900" dirty="0"/>
              <a:t> pareça repetitivo.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dirty="0"/>
              <a:t>O </a:t>
            </a:r>
            <a:r>
              <a:rPr lang="pt-PT" sz="900" b="1" dirty="0"/>
              <a:t>Top 5 Lojas </a:t>
            </a:r>
            <a:r>
              <a:rPr lang="pt-PT" sz="900" dirty="0"/>
              <a:t>requer comparação de valores absolutos entre entidades, onde as barras horizontais são mais precisas do que um donut ou mapa. O filtro Top N aplicado foca a análise nos maiores contribuidores, evitando ruído visual com as 34 lojas e tornando o ranking imediatamente legível.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dirty="0"/>
              <a:t>As </a:t>
            </a:r>
            <a:r>
              <a:rPr lang="pt-PT" sz="900" b="1" dirty="0"/>
              <a:t>Vendas por Região </a:t>
            </a:r>
            <a:r>
              <a:rPr lang="pt-PT" sz="900" dirty="0"/>
              <a:t>são representadas num mapa porque a dimensão geográfica não é comunicável por nenhum outro tipo de visual, barras mostrariam os valores, mas não a distribuição espacial pelo território. É o único visual da página que permite identificar de imediato regiões sub-representadas e oportunidades de expansão.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Visão Geral da Empresa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628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Devolução (%)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588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10303"/>
            <a:ext cx="3840480" cy="228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DIVIDE(COUNTROWS(Devolucoes), COUNTROWS(Vendas))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3629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57383"/>
            <a:ext cx="3840480" cy="415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Percentagem de vendas que resultaram em devolução: indicador de qualidade e satisfação do cliente a nível global.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97212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42201"/>
            <a:ext cx="3840480" cy="114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dirty="0"/>
              <a:t>A gestão de topo foca-se habitualmente no </a:t>
            </a:r>
            <a:r>
              <a:rPr lang="pt-PT" sz="900" b="1" dirty="0"/>
              <a:t>Volume de Negócios</a:t>
            </a:r>
            <a:r>
              <a:rPr lang="pt-PT" sz="900" dirty="0"/>
              <a:t>, mas uma taxa de devolução elevada pode mascarar problemas de qualidade ou satisfação que esse indicador não revela. Incluir a </a:t>
            </a:r>
            <a:r>
              <a:rPr lang="pt-PT" sz="900" b="1" dirty="0"/>
              <a:t>Taxa de Devolução </a:t>
            </a:r>
            <a:r>
              <a:rPr lang="pt-PT" sz="900" dirty="0"/>
              <a:t>no </a:t>
            </a:r>
            <a:r>
              <a:rPr lang="pt-PT" sz="900" dirty="0" err="1"/>
              <a:t>dashboard</a:t>
            </a:r>
            <a:r>
              <a:rPr lang="pt-PT" sz="900" dirty="0"/>
              <a:t> de </a:t>
            </a:r>
            <a:r>
              <a:rPr lang="pt-PT" sz="900" b="1" dirty="0"/>
              <a:t>Visão Geral </a:t>
            </a:r>
            <a:r>
              <a:rPr lang="pt-PT" sz="900" dirty="0"/>
              <a:t>acrescenta uma dimensão de qualidade ao desempenho comercial. Um volume de vendas crescente combinado com uma taxa de devolução também crescente, é um sinal de alerta que de outra forma passaria despercebido. Complementa ainda o </a:t>
            </a:r>
            <a:r>
              <a:rPr lang="pt-PT" sz="900" dirty="0" err="1"/>
              <a:t>Dashboard</a:t>
            </a:r>
            <a:r>
              <a:rPr lang="pt-PT" sz="900" dirty="0"/>
              <a:t> #3 de Devoluções, criando uma ligação entre a visão executiva e a análise operacional.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Vendas por Região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588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106712"/>
            <a:ext cx="384048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bolhas (Power BI Map)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33825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579914"/>
            <a:ext cx="3840480" cy="35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negócios por cidade/região geográfica de Portugal: cada bolha representa uma loja com tamanho proporcional ao volume.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7212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242201"/>
            <a:ext cx="3840480" cy="32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uma perspetiva espacial ausente nos outros visuais. Permite identificar regiões sub-representadas e oportunidades de expansão geográfica.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Análise Crítica · Filtro: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6596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Reclamações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Médio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316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1–10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824702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SLA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93%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Sem Resposta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cada 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05740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abaixo do objetivo (-10,6pp)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2404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82,4% vs objetivo de 93%, existe um gap operacional significativo. O canal com pior desempenho deve ser identificado e priorizado para melhoria de processos internos.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preocupante — 5,5/10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2404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abaixo de 7 são classificados como detratores. A maioria dos clientes não ficou satisfeita após resolução — risco elevado de churn e impacto na reputação da marca.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264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26440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das reclamações sem resposta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" y="3611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 cada 5 clientes não recebeu qualquer resposta. Reclamação ignorada tem impacto superior a uma resolvida tarde — requer processo de escalada automática.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264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6440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prioridade: 53h médias vs SLA 24h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3611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reclamações mais urgentes demoram mais do dobro do SLA. Recomenda-se revisão do processo de triagem e alocação de recursos dedicados à prioridade Alta.</a:t>
            </a:r>
            <a:endParaRPr lang="en-US" sz="900" dirty="0"/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63EEC630-6FAB-F4AD-F755-56BF7CB3F9F2}"/>
              </a:ext>
            </a:extLst>
          </p:cNvPr>
          <p:cNvSpPr/>
          <p:nvPr/>
        </p:nvSpPr>
        <p:spPr>
          <a:xfrm>
            <a:off x="-4572" y="0"/>
            <a:ext cx="1691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9A048B62-3059-6C13-8D18-6B26117AA2A3}"/>
              </a:ext>
            </a:extLst>
          </p:cNvPr>
          <p:cNvSpPr/>
          <p:nvPr/>
        </p:nvSpPr>
        <p:spPr>
          <a:xfrm>
            <a:off x="2423160" y="8229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2BB8119A-A1DC-3A61-3B6B-292060838DC3}"/>
              </a:ext>
            </a:extLst>
          </p:cNvPr>
          <p:cNvSpPr/>
          <p:nvPr/>
        </p:nvSpPr>
        <p:spPr>
          <a:xfrm>
            <a:off x="4572000" y="8229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262C3813-4838-6C87-85D0-B8FFDEC1317A}"/>
              </a:ext>
            </a:extLst>
          </p:cNvPr>
          <p:cNvSpPr/>
          <p:nvPr/>
        </p:nvSpPr>
        <p:spPr>
          <a:xfrm>
            <a:off x="6720840" y="8229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4575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Abastecimento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Processo 1: Encomenda a Fornecedor e Receção de Mercadoria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Simão Lopes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Cadeia de Abastecimento —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screenshot do dashboard aqui]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Cadeia de Abastecimento — Lógica de Representação — porquê cada visual escolhido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A preencher pelo grupo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Conteúdo: Lógica de Representação — porquê cada visual escolhido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Cadeia de Abastecimento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Simão]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fórmula DAX]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[Descrever o que mede]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Simão]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gráfico]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o gráfico mostra]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Devoluções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Processo 2: Gestão de Devoluções de Clientes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Francisco Malojo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Gestão de Devoluções —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screenshot do dashboard aqui]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Gestão de Devoluções — Lógica de Representação — porquê cada visual escolhido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A preencher pelo grupo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Conteúdo: Lógica de Representação — porquê cada visual escolhido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Gestão de Devoluções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Francisco]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fórmula DAX]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[Descrever o que mede]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Francisco]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gráfico]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o gráfico mostra]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Promocionais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Processo 3: Lançamento de Campanha Promocional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Simão Lopes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Campanhas Promocionais —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screenshot do dashboard aqui]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Campanhas Promocionais — Lógica de Representação — porquê cada visual escolhido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A preencher pelo grupo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Conteúdo: Lógica de Representação — porquê cada visual escolhido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Campanhas Promocionais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Simão]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fórmula DAX]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[Descrever o que mede]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Simão]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gráfico]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o gráfico mostra]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RH e Onboarding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Processo 4: Integração e Onboarding de Novo Colaborador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Eduardo Moreira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Gestão de RH e Onboarding —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screenshot do dashboard aqui]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Gestão de RH e Onboarding — Lógica de Representação — porquê cada visual escolhido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A preencher pelo grupo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Conteúdo: Lógica de Representação — porquê cada visual escolhido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Gestão de RH e Onboarding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Eduardo]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fórmula DAX]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[Descrever o que mede]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preencher — Eduardo]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gráfico]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o gráfico mostra]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[Justificar a escolha]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#6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Reclamações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funcional: Processo 5: Gestão de Reclamações de Clientes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individual: Mariana Martins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 2025/26 · Grupo 05 · Turma 3DH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Gestão de Reclamações de Clientes — Dashboard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Gestão de Reclamações — Lógica de Representação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Simples (×4)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Reclamações, Taxa de Escalada, Tempo Médio de Resposta e % Sem Resposta — métricas sem target único definido. Card é mais honesto do que um KPI a vermelho sem contexto.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Visual (×2)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188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Resolução SLA (objetivo 93%) e NPS Médio (objetivo 10) têm targets claros. Verde/vermelho comunica imediatamente cumprimento ou incumprimento.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560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por Canal — permite comparar volumes entre 4 canais com precisão. Nomes longos (Formulário Website) ficam melhor em barras horizontais do que verticais.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Agrupadas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560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Resposta por Prioridade vs SLA — duas séries lado a lado para comparação direta real vs objetivo para cada prioridade (Alta/Média/Baixa).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Linhas (×2)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NPS por mês e Evolução Mensal de Reclamações por tipo (Produto/Serviço) — tendências temporais requerem linha. Trend line no NPS para identificar direção.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Empilhadas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por Prioridade e Trimestre — mostra distribuição interna e evolução simultânea. Trimestral em vez de mensal para evitar excesso de colunas.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Gestão de Reclamações — KPI Extra + Gráfico Extra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Reclamações Sem Resposta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DAX: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DIVIDE(COUNTROWS(FILTER(Reclamacoes, Reclamacoes[Estado] = "Sem Resposta")), COUNTROWS(Reclamacoes))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Percentagem de reclamações que nunca receberam qualquer resposta ou resolução — indicador de abandono de cliente.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reclamação ignorada tem impacto muito maior na retenção do que uma resolvida fora do SLA. Complementa o NPS e a Taxa SLA com a dimensão crítica de abandono.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Extra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Resolução SLA por Canal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visual: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 com eixo X em 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canal (Email, Loja Física, Formulário Website, Portal da Queixa) a % de reclamações resolvidas dentro do prazo SLA definido por prioridade.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inclui Reclamações por Canal (volume) mas não a qualidade por canal. Este gráfico acrescenta eficiência operacional — identifica canais com pior desempenho sistémico.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Gestão de Reclamações — Análise Crítica · Filtro: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6596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Reclamações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Médio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316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1–10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SLA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93%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8229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8229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9326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Sem Resposta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16276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cada 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05740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abaixo do objetivo (-10,6pp)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2404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82,4% vs objetivo de 93%, existe um gap operacional significativo. O canal com pior desempenho deve ser identificado e priorizado para melhoria de processos internos.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preocupante — 5,5/10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2404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abaixo de 7 são classificados como detratores. A maioria dos clientes não ficou satisfeita após resolução — risco elevado de churn e impacto na reputação da marca.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264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26440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das reclamações sem resposta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" y="3611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 cada 5 clientes não recebeu qualquer resposta. Reclamação ignorada tem impacto superior a uma resolvida tarde — requer processo de escalada automática.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264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64408"/>
            <a:ext cx="7315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prioridade: 53h médias vs SLA 24h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3611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reclamações mais urgentes demoram mais do dobro do SLA. Recomenda-se revisão do processo de triagem e alocação de recursos dedicados à prioridade Alta.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2577</Words>
  <Application>Microsoft Office PowerPoint</Application>
  <PresentationFormat>Apresentação no Ecrã (16:9)</PresentationFormat>
  <Paragraphs>347</Paragraphs>
  <Slides>31</Slides>
  <Notes>31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RetailMax - Business KPIs &amp; Dashboards</dc:title>
  <dc:subject>PptxGenJS Presentation</dc:subject>
  <dc:creator>PptxGenJS</dc:creator>
  <cp:lastModifiedBy>Mariana Martins</cp:lastModifiedBy>
  <cp:revision>4</cp:revision>
  <dcterms:created xsi:type="dcterms:W3CDTF">2026-06-04T14:52:08Z</dcterms:created>
  <dcterms:modified xsi:type="dcterms:W3CDTF">2026-06-04T16:13:07Z</dcterms:modified>
</cp:coreProperties>
</file>