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82" r:id="rId3"/>
    <p:sldId id="283" r:id="rId4"/>
    <p:sldId id="287" r:id="rId5"/>
    <p:sldId id="288" r:id="rId6"/>
    <p:sldId id="257" r:id="rId7"/>
    <p:sldId id="258" r:id="rId8"/>
    <p:sldId id="259" r:id="rId9"/>
    <p:sldId id="260" r:id="rId10"/>
    <p:sldId id="286" r:id="rId11"/>
    <p:sldId id="261" r:id="rId12"/>
    <p:sldId id="262" r:id="rId13"/>
    <p:sldId id="263" r:id="rId14"/>
    <p:sldId id="264" r:id="rId15"/>
    <p:sldId id="289" r:id="rId16"/>
    <p:sldId id="265" r:id="rId17"/>
    <p:sldId id="266" r:id="rId18"/>
    <p:sldId id="267" r:id="rId19"/>
    <p:sldId id="268" r:id="rId20"/>
    <p:sldId id="290" r:id="rId21"/>
    <p:sldId id="269" r:id="rId22"/>
    <p:sldId id="270" r:id="rId23"/>
    <p:sldId id="271" r:id="rId24"/>
    <p:sldId id="272" r:id="rId25"/>
    <p:sldId id="291" r:id="rId26"/>
    <p:sldId id="273" r:id="rId27"/>
    <p:sldId id="274" r:id="rId28"/>
    <p:sldId id="275" r:id="rId29"/>
    <p:sldId id="276" r:id="rId30"/>
    <p:sldId id="292" r:id="rId31"/>
    <p:sldId id="277" r:id="rId32"/>
    <p:sldId id="278" r:id="rId33"/>
    <p:sldId id="279" r:id="rId34"/>
    <p:sldId id="280" r:id="rId35"/>
    <p:sldId id="293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6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8637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9013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8063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5141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4919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RETAILMAX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KPIs &amp; Dashboards em Power BI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#2 · INFOR 2025/26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731520"/>
            <a:ext cx="2468880" cy="3566160"/>
          </a:xfrm>
          <a:prstGeom prst="rect">
            <a:avLst/>
          </a:prstGeom>
          <a:solidFill>
            <a:srgbClr val="142B52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868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05 · Turma 3DH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92240" y="1325880"/>
            <a:ext cx="2286000" cy="566928"/>
          </a:xfrm>
          <a:prstGeom prst="rect">
            <a:avLst/>
          </a:prstGeom>
          <a:solidFill>
            <a:srgbClr val="1A3562"/>
          </a:solidFill>
          <a:ln w="12700">
            <a:solidFill>
              <a:srgbClr val="1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3533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Mariana Martins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1609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1230679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92240" y="1984248"/>
            <a:ext cx="2286000" cy="566928"/>
          </a:xfrm>
          <a:prstGeom prst="rect">
            <a:avLst/>
          </a:prstGeom>
          <a:solidFill>
            <a:srgbClr val="1A3562"/>
          </a:solidFill>
          <a:ln w="12700">
            <a:solidFill>
              <a:srgbClr val="1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011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Malojo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37960" y="22677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1230975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2642616"/>
            <a:ext cx="2286000" cy="566928"/>
          </a:xfrm>
          <a:prstGeom prst="rect">
            <a:avLst/>
          </a:prstGeom>
          <a:solidFill>
            <a:srgbClr val="1A3562"/>
          </a:solidFill>
          <a:ln w="12700">
            <a:solidFill>
              <a:srgbClr val="1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 Moreira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37960" y="2926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1190546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92240" y="3300984"/>
            <a:ext cx="2286000" cy="566928"/>
          </a:xfrm>
          <a:prstGeom prst="rect">
            <a:avLst/>
          </a:prstGeom>
          <a:solidFill>
            <a:srgbClr val="1A3562"/>
          </a:solidFill>
          <a:ln w="12700">
            <a:solidFill>
              <a:srgbClr val="1A35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3284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Simão Lopes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960" y="35844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1220779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ISEP · 2025/26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</a:t>
            </a:r>
            <a:endParaRPr lang="en-US" sz="2600" dirty="0"/>
          </a:p>
        </p:txBody>
      </p:sp>
      <p:grpSp>
        <p:nvGrpSpPr>
          <p:cNvPr id="37" name="Agrupar 36">
            <a:extLst>
              <a:ext uri="{FF2B5EF4-FFF2-40B4-BE49-F238E27FC236}">
                <a16:creationId xmlns:a16="http://schemas.microsoft.com/office/drawing/2014/main" id="{1C65F587-373A-5842-971C-6ED26131CA6D}"/>
              </a:ext>
            </a:extLst>
          </p:cNvPr>
          <p:cNvGrpSpPr/>
          <p:nvPr/>
        </p:nvGrpSpPr>
        <p:grpSpPr>
          <a:xfrm>
            <a:off x="314162" y="1577340"/>
            <a:ext cx="4114800" cy="1051560"/>
            <a:chOff x="365760" y="1005840"/>
            <a:chExt cx="4114800" cy="1051560"/>
          </a:xfrm>
        </p:grpSpPr>
        <p:sp>
          <p:nvSpPr>
            <p:cNvPr id="4" name="Shape 2"/>
            <p:cNvSpPr/>
            <p:nvPr/>
          </p:nvSpPr>
          <p:spPr>
            <a:xfrm>
              <a:off x="365760" y="1005840"/>
              <a:ext cx="4114800" cy="10515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2E8F0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5" name="Shape 3"/>
            <p:cNvSpPr/>
            <p:nvPr/>
          </p:nvSpPr>
          <p:spPr>
            <a:xfrm>
              <a:off x="365760" y="1005840"/>
              <a:ext cx="73152" cy="105156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02920" y="1078992"/>
              <a:ext cx="5486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01</a:t>
              </a:r>
              <a:endParaRPr lang="en-US" sz="1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02920" y="1408176"/>
              <a:ext cx="38404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Distribuição de Trabalho</a:t>
              </a:r>
              <a:endParaRPr lang="en-US" sz="13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2920" y="1682496"/>
              <a:ext cx="38404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Responsabilidades por membro do grupo</a:t>
              </a:r>
              <a:endParaRPr lang="en-US" sz="1000" dirty="0"/>
            </a:p>
          </p:txBody>
        </p:sp>
      </p:grp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CBD8CFCC-813E-F66D-B43C-8C3A79C74632}"/>
              </a:ext>
            </a:extLst>
          </p:cNvPr>
          <p:cNvGrpSpPr/>
          <p:nvPr/>
        </p:nvGrpSpPr>
        <p:grpSpPr>
          <a:xfrm>
            <a:off x="320040" y="3209544"/>
            <a:ext cx="4114800" cy="1051560"/>
            <a:chOff x="365760" y="2240280"/>
            <a:chExt cx="4114800" cy="1051560"/>
          </a:xfrm>
        </p:grpSpPr>
        <p:sp>
          <p:nvSpPr>
            <p:cNvPr id="9" name="Shape 7"/>
            <p:cNvSpPr/>
            <p:nvPr/>
          </p:nvSpPr>
          <p:spPr>
            <a:xfrm>
              <a:off x="365760" y="2240280"/>
              <a:ext cx="4114800" cy="10515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2E8F0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0" name="Shape 8"/>
            <p:cNvSpPr/>
            <p:nvPr/>
          </p:nvSpPr>
          <p:spPr>
            <a:xfrm>
              <a:off x="365760" y="2240280"/>
              <a:ext cx="73152" cy="105156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02920" y="2313432"/>
              <a:ext cx="5486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02</a:t>
              </a:r>
              <a:endParaRPr lang="en-US" sz="18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2920" y="2642616"/>
              <a:ext cx="38404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Modelo de Dados</a:t>
              </a:r>
              <a:endParaRPr lang="en-US" sz="13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02920" y="2916936"/>
              <a:ext cx="38404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Estrutura em </a:t>
              </a:r>
              <a:r>
                <a:rPr lang="en-US" sz="1000" dirty="0" err="1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estrela</a:t>
              </a: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- tabelas e relações</a:t>
              </a:r>
              <a:endParaRPr lang="en-US" sz="1000" dirty="0"/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95DDE462-E616-10D3-2562-AE27F5D79392}"/>
              </a:ext>
            </a:extLst>
          </p:cNvPr>
          <p:cNvGrpSpPr/>
          <p:nvPr/>
        </p:nvGrpSpPr>
        <p:grpSpPr>
          <a:xfrm>
            <a:off x="4846320" y="1577340"/>
            <a:ext cx="4114800" cy="1051560"/>
            <a:chOff x="365760" y="3474720"/>
            <a:chExt cx="4114800" cy="1051560"/>
          </a:xfrm>
        </p:grpSpPr>
        <p:sp>
          <p:nvSpPr>
            <p:cNvPr id="14" name="Shape 12"/>
            <p:cNvSpPr/>
            <p:nvPr/>
          </p:nvSpPr>
          <p:spPr>
            <a:xfrm>
              <a:off x="365760" y="3474720"/>
              <a:ext cx="4114800" cy="10515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2E8F0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5" name="Shape 13"/>
            <p:cNvSpPr/>
            <p:nvPr/>
          </p:nvSpPr>
          <p:spPr>
            <a:xfrm>
              <a:off x="365760" y="3474720"/>
              <a:ext cx="73152" cy="105156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02920" y="3547872"/>
              <a:ext cx="5486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03</a:t>
              </a:r>
              <a:endParaRPr lang="en-US" sz="18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02920" y="3877056"/>
              <a:ext cx="38404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Tratamento de Dados</a:t>
              </a:r>
              <a:endParaRPr lang="en-US" sz="13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02920" y="4151376"/>
              <a:ext cx="38404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Limpeza, tipos e transformações no Power Query</a:t>
              </a:r>
              <a:endParaRPr lang="en-US" sz="1000" dirty="0"/>
            </a:p>
          </p:txBody>
        </p:sp>
      </p:grp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7DC50E20-4B94-F50E-9B44-C289BD6DB62A}"/>
              </a:ext>
            </a:extLst>
          </p:cNvPr>
          <p:cNvGrpSpPr/>
          <p:nvPr/>
        </p:nvGrpSpPr>
        <p:grpSpPr>
          <a:xfrm>
            <a:off x="4846320" y="3209544"/>
            <a:ext cx="4114800" cy="1051560"/>
            <a:chOff x="4846320" y="1005840"/>
            <a:chExt cx="4114800" cy="1051560"/>
          </a:xfrm>
        </p:grpSpPr>
        <p:sp>
          <p:nvSpPr>
            <p:cNvPr id="19" name="Shape 17"/>
            <p:cNvSpPr/>
            <p:nvPr/>
          </p:nvSpPr>
          <p:spPr>
            <a:xfrm>
              <a:off x="4846320" y="1005840"/>
              <a:ext cx="4114800" cy="10515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2E8F0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0" name="Shape 18"/>
            <p:cNvSpPr/>
            <p:nvPr/>
          </p:nvSpPr>
          <p:spPr>
            <a:xfrm>
              <a:off x="4846320" y="1005840"/>
              <a:ext cx="73152" cy="105156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4983480" y="1078992"/>
              <a:ext cx="5486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04</a:t>
              </a:r>
              <a:endParaRPr lang="en-US" sz="18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983480" y="1408176"/>
              <a:ext cx="38404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Dashboards #1 - #6</a:t>
              </a:r>
              <a:endParaRPr lang="en-US" sz="13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4983480" y="1682496"/>
              <a:ext cx="38404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Visão geral dos 6 dashboards desenvolvidos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Trabalho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332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Mariana Martins  ·  1230679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individual: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6733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Visão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Geral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#6 Reclamações de Clientes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2068503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Contribuições: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1305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dados, </a:t>
            </a:r>
            <a:r>
              <a:rPr lang="pt-PT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Dados, medidas DAX base, dashboards #1 e #6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960120"/>
            <a:ext cx="41148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6012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0332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Malojo  ·  1230975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040" y="14630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individual: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92040" y="16733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Devoluções de Clientes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20574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Contribuições: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21305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#3 — Gestão de Devoluções de Clientes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41148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301752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90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 Moreira  ·  1190546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3520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individual: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1480" y="37307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Recursos Humanos e Onboarding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" y="4098471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Contribuições: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" y="41879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#5 — Gestão de Recursos Humanos e Onboarding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3044952"/>
            <a:ext cx="41148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754880" y="301752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3090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Simão Lopes  ·  1220779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92040" y="3520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individual: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37307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Abastecimento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#4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Promocionais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4098471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Contribuições: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2040" y="41879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#2 — Cadeia de Abastecimento e #4 — Campanhas Promocionais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Dados — Esquema em Estrela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0" y="777240"/>
            <a:ext cx="25603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0" y="777240"/>
            <a:ext cx="2560320" cy="34747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0" y="804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92240" y="1234440"/>
            <a:ext cx="201168" cy="201168"/>
          </a:xfrm>
          <a:prstGeom prst="rect">
            <a:avLst/>
          </a:prstGeom>
          <a:solidFill>
            <a:srgbClr val="4F1DA8"/>
          </a:solidFill>
          <a:ln w="12700">
            <a:solidFill>
              <a:srgbClr val="4F1DA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12344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1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(lado 1)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766560" y="142189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Calendario, Produtos, Lojas,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Fornecedores, Colaboradores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496159" y="1810512"/>
            <a:ext cx="201168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66560" y="18013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 (lado *)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766560" y="2014293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Vendas, Encomendas, Devolucoes,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Reclamacoes, Onboarding, Stock_Mov.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480484" y="2386584"/>
            <a:ext cx="201168" cy="2011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16" name="Text 13"/>
          <p:cNvSpPr/>
          <p:nvPr/>
        </p:nvSpPr>
        <p:spPr>
          <a:xfrm>
            <a:off x="6761336" y="2389197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Dimensão especial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761336" y="2528969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liga a Vendas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relação inativa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395574" y="3150108"/>
            <a:ext cx="2560320" cy="1947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00800" y="3063240"/>
            <a:ext cx="2560320" cy="34747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090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Principais</a:t>
            </a:r>
            <a:endParaRPr lang="en-US" sz="1100" dirty="0"/>
          </a:p>
        </p:txBody>
      </p: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5B0C526A-AC70-6A29-4F76-15AA8A07289E}"/>
              </a:ext>
            </a:extLst>
          </p:cNvPr>
          <p:cNvGrpSpPr/>
          <p:nvPr/>
        </p:nvGrpSpPr>
        <p:grpSpPr>
          <a:xfrm>
            <a:off x="6480484" y="3461004"/>
            <a:ext cx="2414016" cy="1618488"/>
            <a:chOff x="6492240" y="3511296"/>
            <a:chExt cx="2414016" cy="1618488"/>
          </a:xfrm>
        </p:grpSpPr>
        <p:sp>
          <p:nvSpPr>
            <p:cNvPr id="21" name="Shape 18"/>
            <p:cNvSpPr/>
            <p:nvPr/>
          </p:nvSpPr>
          <p:spPr>
            <a:xfrm>
              <a:off x="6492240" y="3520440"/>
              <a:ext cx="54864" cy="164592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22" name="Text 19"/>
            <p:cNvSpPr/>
            <p:nvPr/>
          </p:nvSpPr>
          <p:spPr>
            <a:xfrm>
              <a:off x="6620256" y="3511296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Calendario[Date] → datas de todos os factos</a:t>
              </a:r>
              <a:endParaRPr lang="en-US" sz="800" dirty="0"/>
            </a:p>
          </p:txBody>
        </p:sp>
        <p:sp>
          <p:nvSpPr>
            <p:cNvPr id="23" name="Shape 20"/>
            <p:cNvSpPr/>
            <p:nvPr/>
          </p:nvSpPr>
          <p:spPr>
            <a:xfrm>
              <a:off x="6492240" y="3803904"/>
              <a:ext cx="54864" cy="164592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24" name="Text 21"/>
            <p:cNvSpPr/>
            <p:nvPr/>
          </p:nvSpPr>
          <p:spPr>
            <a:xfrm>
              <a:off x="6620256" y="3794760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Produtos[ID_Produto] → Vendas, Encomendas, Reclamacoes, Stock_Mov.</a:t>
              </a:r>
              <a:endParaRPr lang="en-US" sz="800" dirty="0"/>
            </a:p>
          </p:txBody>
        </p:sp>
        <p:sp>
          <p:nvSpPr>
            <p:cNvPr id="25" name="Shape 22"/>
            <p:cNvSpPr/>
            <p:nvPr/>
          </p:nvSpPr>
          <p:spPr>
            <a:xfrm>
              <a:off x="6492240" y="4087368"/>
              <a:ext cx="54864" cy="164592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26" name="Text 23"/>
            <p:cNvSpPr/>
            <p:nvPr/>
          </p:nvSpPr>
          <p:spPr>
            <a:xfrm>
              <a:off x="6620256" y="4078224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Lojas[ID_Loja] → Vendas, Stock_Movimentos</a:t>
              </a:r>
              <a:endParaRPr lang="en-US" sz="800" dirty="0"/>
            </a:p>
          </p:txBody>
        </p:sp>
        <p:sp>
          <p:nvSpPr>
            <p:cNvPr id="27" name="Shape 24"/>
            <p:cNvSpPr/>
            <p:nvPr/>
          </p:nvSpPr>
          <p:spPr>
            <a:xfrm>
              <a:off x="6492240" y="4370832"/>
              <a:ext cx="54864" cy="164592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28" name="Text 25"/>
            <p:cNvSpPr/>
            <p:nvPr/>
          </p:nvSpPr>
          <p:spPr>
            <a:xfrm>
              <a:off x="6620256" y="4361688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Fornecedores[ID_Fornecedor] → Encomendas</a:t>
              </a:r>
              <a:endParaRPr lang="en-US" sz="800" dirty="0"/>
            </a:p>
          </p:txBody>
        </p:sp>
        <p:sp>
          <p:nvSpPr>
            <p:cNvPr id="29" name="Shape 26"/>
            <p:cNvSpPr/>
            <p:nvPr/>
          </p:nvSpPr>
          <p:spPr>
            <a:xfrm>
              <a:off x="6492240" y="4654296"/>
              <a:ext cx="54864" cy="164592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30" name="Text 27"/>
            <p:cNvSpPr/>
            <p:nvPr/>
          </p:nvSpPr>
          <p:spPr>
            <a:xfrm>
              <a:off x="6620256" y="4645152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Colaboradores[ID_Colaborador] → Onboarding</a:t>
              </a:r>
              <a:endParaRPr lang="en-US" sz="800" dirty="0"/>
            </a:p>
          </p:txBody>
        </p:sp>
        <p:sp>
          <p:nvSpPr>
            <p:cNvPr id="31" name="Shape 28"/>
            <p:cNvSpPr/>
            <p:nvPr/>
          </p:nvSpPr>
          <p:spPr>
            <a:xfrm>
              <a:off x="6492240" y="4937760"/>
              <a:ext cx="54864" cy="164592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32" name="Text 29"/>
            <p:cNvSpPr/>
            <p:nvPr/>
          </p:nvSpPr>
          <p:spPr>
            <a:xfrm>
              <a:off x="6620256" y="4928616"/>
              <a:ext cx="2286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Campanhas[ID_Campanha] → Vendas (inativa)</a:t>
              </a:r>
              <a:endParaRPr lang="en-US" sz="800" dirty="0"/>
            </a:p>
          </p:txBody>
        </p:sp>
      </p:grpSp>
      <p:grpSp>
        <p:nvGrpSpPr>
          <p:cNvPr id="53" name="Agrupar 52">
            <a:extLst>
              <a:ext uri="{FF2B5EF4-FFF2-40B4-BE49-F238E27FC236}">
                <a16:creationId xmlns:a16="http://schemas.microsoft.com/office/drawing/2014/main" id="{612F000F-57E8-4A36-FA43-B56A40AAFA79}"/>
              </a:ext>
            </a:extLst>
          </p:cNvPr>
          <p:cNvGrpSpPr/>
          <p:nvPr/>
        </p:nvGrpSpPr>
        <p:grpSpPr>
          <a:xfrm>
            <a:off x="40004" y="1032001"/>
            <a:ext cx="6258906" cy="3879598"/>
            <a:chOff x="40004" y="1032001"/>
            <a:chExt cx="6258906" cy="3879598"/>
          </a:xfrm>
        </p:grpSpPr>
        <p:pic>
          <p:nvPicPr>
            <p:cNvPr id="52" name="Imagem 51">
              <a:extLst>
                <a:ext uri="{FF2B5EF4-FFF2-40B4-BE49-F238E27FC236}">
                  <a16:creationId xmlns:a16="http://schemas.microsoft.com/office/drawing/2014/main" id="{FC5C8D4B-A33D-2CDE-5FB2-E0E6CCA40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04" y="1032001"/>
              <a:ext cx="6258906" cy="3879598"/>
            </a:xfrm>
            <a:prstGeom prst="rect">
              <a:avLst/>
            </a:prstGeom>
          </p:spPr>
        </p:pic>
        <p:sp>
          <p:nvSpPr>
            <p:cNvPr id="38" name="Shape 6">
              <a:extLst>
                <a:ext uri="{FF2B5EF4-FFF2-40B4-BE49-F238E27FC236}">
                  <a16:creationId xmlns:a16="http://schemas.microsoft.com/office/drawing/2014/main" id="{80D73A97-F695-4151-5878-F5C3560C81FD}"/>
                </a:ext>
              </a:extLst>
            </p:cNvPr>
            <p:cNvSpPr/>
            <p:nvPr/>
          </p:nvSpPr>
          <p:spPr>
            <a:xfrm>
              <a:off x="3537310" y="1032001"/>
              <a:ext cx="104503" cy="121158"/>
            </a:xfrm>
            <a:prstGeom prst="rect">
              <a:avLst/>
            </a:prstGeom>
            <a:solidFill>
              <a:srgbClr val="4F1DA8"/>
            </a:solidFill>
            <a:ln w="12700">
              <a:solidFill>
                <a:srgbClr val="4F1DA8"/>
              </a:solidFill>
              <a:prstDash val="solid"/>
            </a:ln>
          </p:spPr>
        </p:sp>
        <p:sp>
          <p:nvSpPr>
            <p:cNvPr id="39" name="Shape 6">
              <a:extLst>
                <a:ext uri="{FF2B5EF4-FFF2-40B4-BE49-F238E27FC236}">
                  <a16:creationId xmlns:a16="http://schemas.microsoft.com/office/drawing/2014/main" id="{A5C78C22-C934-FAA2-0688-516FC904D027}"/>
                </a:ext>
              </a:extLst>
            </p:cNvPr>
            <p:cNvSpPr/>
            <p:nvPr/>
          </p:nvSpPr>
          <p:spPr>
            <a:xfrm>
              <a:off x="1667685" y="1772501"/>
              <a:ext cx="104503" cy="121158"/>
            </a:xfrm>
            <a:prstGeom prst="rect">
              <a:avLst/>
            </a:prstGeom>
            <a:solidFill>
              <a:srgbClr val="4F1DA8"/>
            </a:solidFill>
            <a:ln w="12700">
              <a:solidFill>
                <a:srgbClr val="4F1DA8"/>
              </a:solidFill>
              <a:prstDash val="solid"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40" name="Shape 6">
              <a:extLst>
                <a:ext uri="{FF2B5EF4-FFF2-40B4-BE49-F238E27FC236}">
                  <a16:creationId xmlns:a16="http://schemas.microsoft.com/office/drawing/2014/main" id="{D52A4E14-D8B3-BCF6-B5B0-2AD7B231F69E}"/>
                </a:ext>
              </a:extLst>
            </p:cNvPr>
            <p:cNvSpPr/>
            <p:nvPr/>
          </p:nvSpPr>
          <p:spPr>
            <a:xfrm>
              <a:off x="5364479" y="1827038"/>
              <a:ext cx="104503" cy="121158"/>
            </a:xfrm>
            <a:prstGeom prst="rect">
              <a:avLst/>
            </a:prstGeom>
            <a:solidFill>
              <a:srgbClr val="4F1DA8"/>
            </a:solidFill>
            <a:ln w="12700">
              <a:solidFill>
                <a:srgbClr val="4F1DA8"/>
              </a:solidFill>
              <a:prstDash val="solid"/>
            </a:ln>
          </p:spPr>
        </p:sp>
        <p:sp>
          <p:nvSpPr>
            <p:cNvPr id="41" name="Shape 6">
              <a:extLst>
                <a:ext uri="{FF2B5EF4-FFF2-40B4-BE49-F238E27FC236}">
                  <a16:creationId xmlns:a16="http://schemas.microsoft.com/office/drawing/2014/main" id="{5ED8AA40-403F-9AB5-15DB-42C8E5A7ECCE}"/>
                </a:ext>
              </a:extLst>
            </p:cNvPr>
            <p:cNvSpPr/>
            <p:nvPr/>
          </p:nvSpPr>
          <p:spPr>
            <a:xfrm>
              <a:off x="5175068" y="3299677"/>
              <a:ext cx="104503" cy="121158"/>
            </a:xfrm>
            <a:prstGeom prst="rect">
              <a:avLst/>
            </a:prstGeom>
            <a:solidFill>
              <a:srgbClr val="4F1DA8"/>
            </a:solidFill>
            <a:ln w="12700">
              <a:solidFill>
                <a:srgbClr val="4F1DA8"/>
              </a:solidFill>
              <a:prstDash val="solid"/>
            </a:ln>
          </p:spPr>
        </p:sp>
        <p:sp>
          <p:nvSpPr>
            <p:cNvPr id="42" name="Shape 6">
              <a:extLst>
                <a:ext uri="{FF2B5EF4-FFF2-40B4-BE49-F238E27FC236}">
                  <a16:creationId xmlns:a16="http://schemas.microsoft.com/office/drawing/2014/main" id="{A738C57B-85C3-376D-1083-B1DFBE4C8C47}"/>
                </a:ext>
              </a:extLst>
            </p:cNvPr>
            <p:cNvSpPr/>
            <p:nvPr/>
          </p:nvSpPr>
          <p:spPr>
            <a:xfrm>
              <a:off x="1569718" y="3257877"/>
              <a:ext cx="104503" cy="121158"/>
            </a:xfrm>
            <a:prstGeom prst="rect">
              <a:avLst/>
            </a:prstGeom>
            <a:solidFill>
              <a:srgbClr val="4F1DA8"/>
            </a:solidFill>
            <a:ln w="12700">
              <a:solidFill>
                <a:srgbClr val="4F1DA8"/>
              </a:solidFill>
              <a:prstDash val="solid"/>
            </a:ln>
          </p:spPr>
        </p:sp>
        <p:sp>
          <p:nvSpPr>
            <p:cNvPr id="43" name="Shape 9">
              <a:extLst>
                <a:ext uri="{FF2B5EF4-FFF2-40B4-BE49-F238E27FC236}">
                  <a16:creationId xmlns:a16="http://schemas.microsoft.com/office/drawing/2014/main" id="{8205EA31-9D24-2A04-A093-4FA2A0947CA9}"/>
                </a:ext>
              </a:extLst>
            </p:cNvPr>
            <p:cNvSpPr/>
            <p:nvPr/>
          </p:nvSpPr>
          <p:spPr>
            <a:xfrm>
              <a:off x="3446409" y="1948196"/>
              <a:ext cx="120833" cy="128670"/>
            </a:xfrm>
            <a:prstGeom prst="rect">
              <a:avLst/>
            </a:prstGeom>
            <a:solidFill>
              <a:srgbClr val="B91C1C"/>
            </a:solidFill>
            <a:ln w="12700">
              <a:solidFill>
                <a:srgbClr val="B91C1C"/>
              </a:solidFill>
              <a:prstDash val="solid"/>
            </a:ln>
          </p:spPr>
        </p:sp>
        <p:sp>
          <p:nvSpPr>
            <p:cNvPr id="44" name="Shape 9">
              <a:extLst>
                <a:ext uri="{FF2B5EF4-FFF2-40B4-BE49-F238E27FC236}">
                  <a16:creationId xmlns:a16="http://schemas.microsoft.com/office/drawing/2014/main" id="{8CBB92B9-C1D0-9940-9A61-317D458E732C}"/>
                </a:ext>
              </a:extLst>
            </p:cNvPr>
            <p:cNvSpPr/>
            <p:nvPr/>
          </p:nvSpPr>
          <p:spPr>
            <a:xfrm>
              <a:off x="774610" y="4274166"/>
              <a:ext cx="120833" cy="128670"/>
            </a:xfrm>
            <a:prstGeom prst="rect">
              <a:avLst/>
            </a:prstGeom>
            <a:solidFill>
              <a:srgbClr val="B91C1C"/>
            </a:solidFill>
            <a:ln w="12700">
              <a:solidFill>
                <a:srgbClr val="B91C1C"/>
              </a:solidFill>
              <a:prstDash val="solid"/>
            </a:ln>
          </p:spPr>
        </p:sp>
        <p:sp>
          <p:nvSpPr>
            <p:cNvPr id="45" name="Shape 9">
              <a:extLst>
                <a:ext uri="{FF2B5EF4-FFF2-40B4-BE49-F238E27FC236}">
                  <a16:creationId xmlns:a16="http://schemas.microsoft.com/office/drawing/2014/main" id="{8A175E3A-17DC-28C7-7D94-E06AB13C2950}"/>
                </a:ext>
              </a:extLst>
            </p:cNvPr>
            <p:cNvSpPr/>
            <p:nvPr/>
          </p:nvSpPr>
          <p:spPr>
            <a:xfrm>
              <a:off x="2170643" y="4337739"/>
              <a:ext cx="120833" cy="128670"/>
            </a:xfrm>
            <a:prstGeom prst="rect">
              <a:avLst/>
            </a:prstGeom>
            <a:solidFill>
              <a:srgbClr val="B91C1C"/>
            </a:solidFill>
            <a:ln w="12700">
              <a:solidFill>
                <a:srgbClr val="B91C1C"/>
              </a:solidFill>
              <a:prstDash val="solid"/>
            </a:ln>
          </p:spPr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D08A9ADD-C227-6CDB-060C-8D38A329B46A}"/>
                </a:ext>
              </a:extLst>
            </p:cNvPr>
            <p:cNvSpPr/>
            <p:nvPr/>
          </p:nvSpPr>
          <p:spPr>
            <a:xfrm>
              <a:off x="3506825" y="4356462"/>
              <a:ext cx="120833" cy="128670"/>
            </a:xfrm>
            <a:prstGeom prst="rect">
              <a:avLst/>
            </a:prstGeom>
            <a:solidFill>
              <a:srgbClr val="B91C1C"/>
            </a:solidFill>
            <a:ln w="12700">
              <a:solidFill>
                <a:srgbClr val="B91C1C"/>
              </a:solidFill>
              <a:prstDash val="solid"/>
            </a:ln>
          </p:spPr>
        </p:sp>
        <p:sp>
          <p:nvSpPr>
            <p:cNvPr id="47" name="Shape 9">
              <a:extLst>
                <a:ext uri="{FF2B5EF4-FFF2-40B4-BE49-F238E27FC236}">
                  <a16:creationId xmlns:a16="http://schemas.microsoft.com/office/drawing/2014/main" id="{4A820650-CE37-421B-2258-8749E066CEAE}"/>
                </a:ext>
              </a:extLst>
            </p:cNvPr>
            <p:cNvSpPr/>
            <p:nvPr/>
          </p:nvSpPr>
          <p:spPr>
            <a:xfrm>
              <a:off x="4878866" y="4379540"/>
              <a:ext cx="120833" cy="128670"/>
            </a:xfrm>
            <a:prstGeom prst="rect">
              <a:avLst/>
            </a:prstGeom>
            <a:solidFill>
              <a:srgbClr val="B91C1C"/>
            </a:solidFill>
            <a:ln w="12700">
              <a:solidFill>
                <a:srgbClr val="B91C1C"/>
              </a:solidFill>
              <a:prstDash val="solid"/>
            </a:ln>
          </p:spPr>
        </p:sp>
        <p:sp>
          <p:nvSpPr>
            <p:cNvPr id="48" name="Shape 9">
              <a:extLst>
                <a:ext uri="{FF2B5EF4-FFF2-40B4-BE49-F238E27FC236}">
                  <a16:creationId xmlns:a16="http://schemas.microsoft.com/office/drawing/2014/main" id="{8118ABBC-8305-5224-832D-A84A06DB2C85}"/>
                </a:ext>
              </a:extLst>
            </p:cNvPr>
            <p:cNvSpPr/>
            <p:nvPr/>
          </p:nvSpPr>
          <p:spPr>
            <a:xfrm>
              <a:off x="5993670" y="4407952"/>
              <a:ext cx="120833" cy="128670"/>
            </a:xfrm>
            <a:prstGeom prst="rect">
              <a:avLst/>
            </a:prstGeom>
            <a:solidFill>
              <a:srgbClr val="B91C1C"/>
            </a:solidFill>
            <a:ln w="12700">
              <a:solidFill>
                <a:srgbClr val="B91C1C"/>
              </a:solidFill>
              <a:prstDash val="solid"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49" name="Shape 12">
              <a:extLst>
                <a:ext uri="{FF2B5EF4-FFF2-40B4-BE49-F238E27FC236}">
                  <a16:creationId xmlns:a16="http://schemas.microsoft.com/office/drawing/2014/main" id="{8CEEE283-A362-1562-214F-70C7E73EAAA5}"/>
                </a:ext>
              </a:extLst>
            </p:cNvPr>
            <p:cNvSpPr/>
            <p:nvPr/>
          </p:nvSpPr>
          <p:spPr>
            <a:xfrm>
              <a:off x="3446409" y="3174274"/>
              <a:ext cx="120612" cy="125403"/>
            </a:xfrm>
            <a:prstGeom prst="rect">
              <a:avLst/>
            </a:prstGeom>
            <a:solidFill>
              <a:srgbClr val="B45309"/>
            </a:solidFill>
            <a:ln w="12700">
              <a:solidFill>
                <a:srgbClr val="B45309"/>
              </a:solidFill>
              <a:prstDash val="solid"/>
            </a:ln>
          </p:spPr>
          <p:txBody>
            <a:bodyPr/>
            <a:lstStyle/>
            <a:p>
              <a:endParaRPr lang="pt-PT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— Power Query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77240"/>
            <a:ext cx="27432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8961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" y="1252728"/>
            <a:ext cx="54864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" y="11338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Loja_Canal dividida pelo delimiter '|' → ID_Loja + Canal_Venda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8328" y="1709928"/>
            <a:ext cx="54864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0934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Preco_Unitario: texto → Decimal Number (locale EN-US)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8328" y="2167128"/>
            <a:ext cx="54864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" y="2044337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Nulls em ID_Produto (~465) e ID_Campanha (~38.000) mantidos — válidos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127248" y="77724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27248" y="777240"/>
            <a:ext cx="27432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36976" y="8961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36976" y="1252728"/>
            <a:ext cx="54864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112471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Salario_Bruto: remove '€ ', remove '.', substitui ',' por '.' → Decimal (EN-US)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36976" y="1709928"/>
            <a:ext cx="54864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58191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Data_Saida nula = colaborador </a:t>
            </a:r>
            <a:r>
              <a:rPr lang="en-US" sz="8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não preencher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36976" y="2167128"/>
            <a:ext cx="54864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2043031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ID_Loja nulo = colaborador de </a:t>
            </a:r>
            <a:r>
              <a:rPr lang="en-US" sz="8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válido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16752" y="77724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16752" y="777240"/>
            <a:ext cx="27432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8961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Devolucoes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1252728"/>
            <a:ext cx="54864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54496" y="112471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Valor_Reembolso: mesmo processo que Salario_Bruto ('€ 89,39' → Decimal)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126480" y="1709928"/>
            <a:ext cx="54864" cy="137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54496" y="158517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Data_Processamento nula = devolução não </a:t>
            </a:r>
            <a:r>
              <a:rPr lang="en-US" sz="8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processada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válido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8600" y="283464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28600" y="2834640"/>
            <a:ext cx="274320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29535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Reclamacoes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38328" y="3310128"/>
            <a:ext cx="54864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6344" y="325526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Canal: </a:t>
            </a:r>
            <a:r>
              <a:rPr lang="en-US" sz="8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'email'→'Email', 'Loja fisica'→'Loja Física', 'formulario website'→'Formulário Website'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38328" y="3767328"/>
            <a:ext cx="54864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" y="366674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NPS_Pos_Reclamacao: tipos </a:t>
            </a:r>
            <a:r>
              <a:rPr lang="en-US" sz="8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mistos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remove ' em 10', converte para Inteiro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38328" y="4224528"/>
            <a:ext cx="54864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" y="410108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Data_Resolucao nula = reclamação sem </a:t>
            </a:r>
            <a:r>
              <a:rPr lang="en-US" sz="8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válido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127248" y="283464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127248" y="2834640"/>
            <a:ext cx="274320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36976" y="29535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Encomendas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36976" y="3310128"/>
            <a:ext cx="54864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64992" y="318668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Dt_Enc em formato DD-MM-YYYY → Data com locale pt-PT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236976" y="3767328"/>
            <a:ext cx="54864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64992" y="366674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Data_Entrega_Prevista e Data_Entrega_Real nulas em Pendentes/</a:t>
            </a:r>
            <a:r>
              <a:rPr lang="en-US" sz="8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Rejeitadas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válido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236976" y="4224528"/>
            <a:ext cx="54864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64992" y="4102390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ID_Fornecedor com ~129 nulls - substituir por 'Desconhecido'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016752" y="283464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016752" y="2834640"/>
            <a:ext cx="2743200" cy="731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26480" y="29535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Geral</a:t>
            </a:r>
            <a:r>
              <a:rPr lang="en-US" sz="11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Combinação dos 4 Ficheiros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126480" y="3310128"/>
            <a:ext cx="54864" cy="1371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54496" y="3208891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(Produtos, Lojas, Fornecedores, Colaboradores) - carregadas só do ficheiro A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126480" y="3767328"/>
            <a:ext cx="54864" cy="1371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54496" y="366674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Factos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Append das 4 fontes: 50.621 vendas · 6.538 encomendas · 5.130 devoluções · 3.279 reclamações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126480" y="4224528"/>
            <a:ext cx="54864" cy="13716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54496" y="4099125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colunas de data convertidas para tipo Date após o append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da Empresa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funcional: Transversal — todos os processos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365760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individual: Mariana Martins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 2025/26 · Grupo 05 · Turma 3DH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Visão Geral da Empresa — Dashboard</a:t>
            </a:r>
            <a:endParaRPr lang="en-US" sz="18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9A7E7ED-4FD5-E698-5CEE-A365641F7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412" y="697079"/>
            <a:ext cx="6661346" cy="44464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Visão Geral da Empresa — Lógica de Representação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896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Simples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1887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O</a:t>
            </a:r>
            <a:r>
              <a:rPr lang="pt-PT" sz="900" b="1" dirty="0"/>
              <a:t> Volume de Negócios</a:t>
            </a:r>
            <a:r>
              <a:rPr lang="pt-PT" sz="900" dirty="0"/>
              <a:t>, </a:t>
            </a:r>
            <a:r>
              <a:rPr lang="pt-PT" sz="900" b="1" dirty="0"/>
              <a:t>Margem Bruta</a:t>
            </a:r>
            <a:r>
              <a:rPr lang="pt-PT" sz="900" dirty="0"/>
              <a:t>, </a:t>
            </a:r>
            <a:r>
              <a:rPr lang="pt-PT" sz="900" b="1" dirty="0"/>
              <a:t>Total de Transações</a:t>
            </a:r>
            <a:r>
              <a:rPr lang="pt-PT" sz="900" dirty="0"/>
              <a:t>,</a:t>
            </a:r>
            <a:r>
              <a:rPr lang="pt-PT" sz="900" b="1" dirty="0"/>
              <a:t> Taxa de Devolução </a:t>
            </a:r>
            <a:r>
              <a:rPr lang="pt-PT" sz="900" dirty="0"/>
              <a:t>e </a:t>
            </a:r>
            <a:r>
              <a:rPr lang="pt-PT" sz="900" b="1" dirty="0"/>
              <a:t>Ticket Médio </a:t>
            </a:r>
            <a:r>
              <a:rPr lang="pt-PT" sz="900" dirty="0"/>
              <a:t>não têm um objetivo de comparação definido, por isso, usar KPI visual mostraria sempre vermelho, o que seria enganoso. O </a:t>
            </a:r>
            <a:r>
              <a:rPr lang="pt-PT" sz="900" dirty="0" err="1"/>
              <a:t>Card</a:t>
            </a:r>
            <a:r>
              <a:rPr lang="pt-PT" sz="900" dirty="0"/>
              <a:t> é o formato mais eficiente para leitura rápida, e reservar o verde/vermelho apenas para métricas com target real garante que a cor mantém significado.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2296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896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Visual (verde/vermelho)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19472" y="11887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b="1" dirty="0"/>
              <a:t>Crescimento Anual de Vendas </a:t>
            </a:r>
            <a:r>
              <a:rPr lang="pt-PT" sz="900" dirty="0"/>
              <a:t>e </a:t>
            </a:r>
            <a:r>
              <a:rPr lang="pt-PT" sz="900" b="1" dirty="0"/>
              <a:t>Vendas YTD </a:t>
            </a:r>
            <a:r>
              <a:rPr lang="pt-PT" sz="900" dirty="0"/>
              <a:t>têm como target natural o mesmo período do ano anterior, um </a:t>
            </a:r>
            <a:r>
              <a:rPr lang="pt-PT" sz="900" dirty="0" err="1"/>
              <a:t>benchmark</a:t>
            </a:r>
            <a:r>
              <a:rPr lang="pt-PT" sz="900" dirty="0"/>
              <a:t> sempre disponível nos dados. O verde/vermelho comunica imediatamente se houve melhoria ou retrocesso, sendo esta codificação de cor explicitamente exigida pelo enunciado para o </a:t>
            </a:r>
            <a:r>
              <a:rPr lang="pt-PT" sz="900" b="1" dirty="0"/>
              <a:t>Crescimento Anual</a:t>
            </a:r>
            <a:r>
              <a:rPr lang="pt-PT" sz="900" dirty="0"/>
              <a:t>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1945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19456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Linhas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" y="25603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A </a:t>
            </a:r>
            <a:r>
              <a:rPr lang="pt-PT" sz="900" b="1" dirty="0"/>
              <a:t>Evolução Mensal de Vendas </a:t>
            </a:r>
            <a:r>
              <a:rPr lang="pt-PT" sz="900" dirty="0"/>
              <a:t>requer um gráfico de linhas porque o objetivo é mostrar continuidade temporal, a ligação entre meses é tão importante quanto os valores individuais. A linha de tendência sobreposta permite identificar a direção geral do negócio independentemente da sazonalidade mensal.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21945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19456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(×2)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19472" y="25603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b="1" dirty="0"/>
              <a:t>Canal Online </a:t>
            </a:r>
            <a:r>
              <a:rPr lang="pt-PT" sz="900" b="1" dirty="0" err="1"/>
              <a:t>vs</a:t>
            </a:r>
            <a:r>
              <a:rPr lang="pt-PT" sz="900" b="1" dirty="0"/>
              <a:t> Loja Física </a:t>
            </a:r>
            <a:r>
              <a:rPr lang="pt-PT" sz="900" dirty="0"/>
              <a:t>e </a:t>
            </a:r>
            <a:r>
              <a:rPr lang="pt-PT" sz="900" b="1" dirty="0"/>
              <a:t>Vendas por Segmento </a:t>
            </a:r>
            <a:r>
              <a:rPr lang="pt-PT" sz="900" dirty="0"/>
              <a:t>têm poucas categorias (2 e 3 respetivamente) onde o objetivo é mostrar a quota relativa de cada parte no total, contexto onde o donut é mais eficaz do que barras. A diversidade de tipos de visual na página melhora a leitura e evita que o </a:t>
            </a:r>
            <a:r>
              <a:rPr lang="pt-PT" sz="900" dirty="0" err="1"/>
              <a:t>dashboard</a:t>
            </a:r>
            <a:r>
              <a:rPr lang="pt-PT" sz="900" dirty="0"/>
              <a:t> pareça repetitivo.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5661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56616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6393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Horizontais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3931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O </a:t>
            </a:r>
            <a:r>
              <a:rPr lang="pt-PT" sz="900" b="1" dirty="0"/>
              <a:t>Top 5 Lojas </a:t>
            </a:r>
            <a:r>
              <a:rPr lang="pt-PT" sz="900" dirty="0"/>
              <a:t>requer comparação de valores absolutos entre entidades, onde as barras horizontais são mais precisas do que um donut ou mapa. O filtro Top N aplicado foca a análise nos maiores contribuidores, evitando ruído visual com as 34 lojas e tornando o ranking imediatamente legível.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35661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73152" cy="1234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36393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19472" y="3931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As </a:t>
            </a:r>
            <a:r>
              <a:rPr lang="pt-PT" sz="900" b="1" dirty="0"/>
              <a:t>Vendas por Região </a:t>
            </a:r>
            <a:r>
              <a:rPr lang="pt-PT" sz="900" dirty="0"/>
              <a:t>são representadas num mapa porque a dimensão geográfica não é comunicável por nenhum outro tipo de visual, barras mostrariam os valores, mas não a distribuição espacial pelo território. É o único visual da página que permite identificar de imediato regiões sub-representadas e oportunidades de expansão.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Visão Geral da Empresa — KPI Extra + Gráfico Extra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Extra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6281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 (%)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8588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DAX: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10303"/>
            <a:ext cx="3840480" cy="228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DIVIDE(COUNTROWS(Devolucoes), COUNTROWS(Vendas))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336291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mede: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557383"/>
            <a:ext cx="3840480" cy="415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Percentagem de vendas que resultaram em devolução: indicador de qualidade e satisfação do cliente a nível global.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2972129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242201"/>
            <a:ext cx="3840480" cy="114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A gestão de topo foca-se habitualmente no </a:t>
            </a:r>
            <a:r>
              <a:rPr lang="pt-PT" sz="900" b="1" dirty="0"/>
              <a:t>Volume de Negócios</a:t>
            </a:r>
            <a:r>
              <a:rPr lang="pt-PT" sz="900" dirty="0"/>
              <a:t>, mas uma taxa de devolução elevada pode mascarar problemas de qualidade ou satisfação que esse indicador não revela. Incluir a </a:t>
            </a:r>
            <a:r>
              <a:rPr lang="pt-PT" sz="900" b="1" dirty="0"/>
              <a:t>Taxa de Devolução </a:t>
            </a:r>
            <a:r>
              <a:rPr lang="pt-PT" sz="900" dirty="0"/>
              <a:t>no </a:t>
            </a:r>
            <a:r>
              <a:rPr lang="pt-PT" sz="900" dirty="0" err="1"/>
              <a:t>dashboard</a:t>
            </a:r>
            <a:r>
              <a:rPr lang="pt-PT" sz="900" dirty="0"/>
              <a:t> de </a:t>
            </a:r>
            <a:r>
              <a:rPr lang="pt-PT" sz="900" b="1" dirty="0"/>
              <a:t>Visão Geral </a:t>
            </a:r>
            <a:r>
              <a:rPr lang="pt-PT" sz="900" dirty="0"/>
              <a:t>acrescenta uma dimensão de qualidade ao desempenho comercial. Um volume de vendas crescente combinado com uma taxa de devolução também crescente, é um sinal de alerta que de outra forma passaria despercebido. Complementa ainda o </a:t>
            </a:r>
            <a:r>
              <a:rPr lang="pt-PT" sz="900" dirty="0" err="1"/>
              <a:t>Dashboard</a:t>
            </a:r>
            <a:r>
              <a:rPr lang="pt-PT" sz="900" dirty="0"/>
              <a:t> #3 de Devoluções, criando uma ligação entre a visão executiva e a análise operacional.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04672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Extra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1600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Vendas por Região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18588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visual: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106712"/>
            <a:ext cx="384048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bolhas (Power BI Map)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92040" y="2338251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579914"/>
            <a:ext cx="3840480" cy="35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negócios por cidade/região geográfica de Portugal: cada bolha representa uma loja com tamanho proporcional ao volume.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2972129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200729"/>
            <a:ext cx="3840480" cy="155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Todos os outros visuais do </a:t>
            </a:r>
            <a:r>
              <a:rPr lang="pt-PT" sz="900" dirty="0" err="1"/>
              <a:t>dashboard</a:t>
            </a:r>
            <a:r>
              <a:rPr lang="pt-PT" sz="900" dirty="0"/>
              <a:t> apresentam os dados por tempo, canal, segmento ou loja, nenhum deles tem uma dimensão espacial. O mapa preenche essa lacuna ao mostrar onde o negócio está geograficamente concentrado, permitindo à gestão de topo identificar regiões sub-representadas e avaliar oportunidades de expansão. Um retalhista com presença nacional como a </a:t>
            </a:r>
            <a:r>
              <a:rPr lang="pt-PT" sz="900" dirty="0" err="1"/>
              <a:t>RetailMax</a:t>
            </a:r>
            <a:r>
              <a:rPr lang="pt-PT" sz="900" dirty="0"/>
              <a:t> beneficia diretamente desta perspetiva, saber que o Norte gera mais volume do que o Sul pode justificar decisões de abertura de novas lojas, alocação de orçamento de marketing ou ajuste de sortido por região. É também o visual com maior impacto imediato numa apresentação executiva, transmitindo em segundos informação que uma tabela ou gráfico de barras demoraria muito mais a comunicar.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Visão Geral da Empresa — Análise Crítica · Filtro: Ano 2025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21208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21208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21208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5,68M€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21208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Negócios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21208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+2,87% YTD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713232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13232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+6,09%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13232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Anual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3232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1208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82880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1208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10,41%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21208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21208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13232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32320" y="182880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71,6%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13232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13232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volume total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521208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28803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sustentado (+6,09%)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28523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confirma a tendência positiva com +6,09% face a 2024 e YTD acima do ano anterior em +2,87%. Margem bruta de 50,97% indica estrutura de custos saudável.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713232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132320" y="288036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29718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dominante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(71,6% do volume)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720547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4,07M€ vs 1,61M€ em canal online. 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continua a ser o principal motor de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RetailMax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contrário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que seria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expectável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retalhista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521208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212080" y="397764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28523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 elevada (10,41%)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28523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 vendas resulta em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devolução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valor acima do que seria expectável. Requer análise aprofundada no Dashboard #3 para identificar categorias e motivos principais.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713232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132320" y="3977640"/>
            <a:ext cx="178308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0547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em Moda Feminina (45,88%)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20547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metade do volume depende de um único segmento. Sazonalidade negativa visível em agosto-setembro deve ser monitorizada para ajuste de campanhas promocionais.</a:t>
            </a:r>
            <a:endParaRPr lang="en-US" sz="750" dirty="0"/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D9541E25-94FD-5C77-1AF4-581A1FA238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980694"/>
            <a:ext cx="5074920" cy="38450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Abastecimento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funcional: Processo 1: Encomenda a Fornecedor e Receção de Mercadoria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3657600" cy="0"/>
          </a:xfrm>
          <a:prstGeom prst="line">
            <a:avLst/>
          </a:prstGeom>
          <a:noFill/>
          <a:ln w="12700">
            <a:solidFill>
              <a:srgbClr val="0369A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individual: Simão Lopes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 2025/26 · Grupo 05 · Turma 3DH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Cadeia de Abastecimento — Dashboard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4206240"/>
          </a:xfrm>
          <a:prstGeom prst="rect">
            <a:avLst/>
          </a:prstGeom>
          <a:solidFill>
            <a:srgbClr val="CBD5E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25603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screenshot do dashboard aqui]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Cadeia de Abastecimento — Lógica de Representação — porquê cada visual escolhido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solidFill>
            <a:srgbClr val="EFF6FF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A preencher pelo grupo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Conteúdo: Lógica de Representação — porquê cada visual escolhido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Cadeia de Abastecimento — KPI Extra + Gráfico Extra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Extra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preencher — Simão]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DAX: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3500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fórmula DAX]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8712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mede: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[Descrever o que mede]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6210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8496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[Justificar a escolha]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Extra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1600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preencher — Simão]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visual: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3500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[Tipo de gráfico]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92040" y="28712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3099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 que o gráfico mostra]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36210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8496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[Justificar a escolha]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…—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:…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21208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21208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21208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5,68M€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21208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Negócios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21208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+2,87% YTD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713232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13232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+6,09%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13232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Anual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3232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1208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82880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1208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10,41%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21208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21208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13232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32320" y="182880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71,6%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13232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13232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volume total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521208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28803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sustentado (+6,09%)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28523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confirma a tendência positiva com +6,09% face a 2024 e YTD acima do ano anterior em +2,87%. Margem bruta de 50,97% indica estrutura de custos saudável.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713232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132320" y="288036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29718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dominante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(71,6% do volume)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720547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4,07M€ vs 1,61M€ em canal online. 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continua a ser o principal motor de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RetailMax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contrário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que seria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expectável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retalhista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521208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212080" y="397764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28523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 elevada (10,41%)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28523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 vendas resulta em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devolução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valor acima do que seria expectável. Requer análise aprofundada no Dashboard #3 para identificar categorias e motivos principais.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713232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132320" y="3977640"/>
            <a:ext cx="178308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0547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em Moda Feminina (45,88%)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20547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metade do volume depende de um único segmento. Sazonalidade negativa visível em agosto-setembro deve ser monitorizada para ajuste de campanhas promocionais.</a:t>
            </a:r>
            <a:endParaRPr lang="en-US" sz="750" dirty="0"/>
          </a:p>
        </p:txBody>
      </p:sp>
      <p:sp>
        <p:nvSpPr>
          <p:cNvPr id="42" name="Shape 1">
            <a:extLst>
              <a:ext uri="{FF2B5EF4-FFF2-40B4-BE49-F238E27FC236}">
                <a16:creationId xmlns:a16="http://schemas.microsoft.com/office/drawing/2014/main" id="{27F1378C-FE0E-A300-D799-966E44A5B12C}"/>
              </a:ext>
            </a:extLst>
          </p:cNvPr>
          <p:cNvSpPr/>
          <p:nvPr/>
        </p:nvSpPr>
        <p:spPr>
          <a:xfrm>
            <a:off x="-4572" y="-4572"/>
            <a:ext cx="164592" cy="6858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3" name="Shape 3">
            <a:extLst>
              <a:ext uri="{FF2B5EF4-FFF2-40B4-BE49-F238E27FC236}">
                <a16:creationId xmlns:a16="http://schemas.microsoft.com/office/drawing/2014/main" id="{C42CBF6D-E0CB-66ED-E175-4677EE5E3131}"/>
              </a:ext>
            </a:extLst>
          </p:cNvPr>
          <p:cNvSpPr/>
          <p:nvPr/>
        </p:nvSpPr>
        <p:spPr>
          <a:xfrm>
            <a:off x="104503" y="868680"/>
            <a:ext cx="4970417" cy="3977640"/>
          </a:xfrm>
          <a:prstGeom prst="rect">
            <a:avLst/>
          </a:prstGeom>
          <a:solidFill>
            <a:srgbClr val="EFF6FF"/>
          </a:solidFill>
          <a:ln w="12700">
            <a:solidFill>
              <a:srgbClr val="065F4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75914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Devoluções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funcional: Processo 2: Gestão de Devoluções de Clientes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3657600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individual: Francisco Malojo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 2025/26 · Grupo 05 · Turma 3DH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Gestão de Devoluções — Dashboard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4206240"/>
          </a:xfrm>
          <a:prstGeom prst="rect">
            <a:avLst/>
          </a:prstGeom>
          <a:solidFill>
            <a:srgbClr val="CBD5E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25603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screenshot do dashboard aqui]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Gestão de Devoluções — Lógica de Representação — porquê cada visual escolhido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solidFill>
            <a:srgbClr val="EFF6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A preencher pelo grupo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Conteúdo: Lógica de Representação — porquê cada visual escolhido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Gestão de Devoluções — KPI Extra + Gráfico Extra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Extra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preencher — Francisco]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DAX: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3500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fórmula DAX]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8712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mede: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[Descrever o que mede]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6210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8496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[Justificar a escolha]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Extra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1600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preencher — Francisco]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visual: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3500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[Tipo de gráfico]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92040" y="28712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3099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 que o gráfico mostra]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36210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8496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[Justificar a escolha]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…—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:…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21208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21208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21208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5,68M€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21208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Negócios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21208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+2,87% YTD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713232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13232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+6,09%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13232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Anual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3232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1208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82880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1208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10,41%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21208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21208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13232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32320" y="182880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71,6%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13232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13232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volume total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521208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28803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sustentado (+6,09%)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28523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confirma a tendência positiva com +6,09% face a 2024 e YTD acima do ano anterior em +2,87%. Margem bruta de 50,97% indica estrutura de custos saudável.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713232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132320" y="288036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29718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dominante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(71,6% do volume)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720547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4,07M€ vs 1,61M€ em canal online. 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continua a ser o principal motor de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RetailMax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contrário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que seria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expectável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retalhista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521208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212080" y="397764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28523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 elevada (10,41%)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28523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 vendas resulta em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devolução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valor acima do que seria expectável. Requer análise aprofundada no Dashboard #3 para identificar categorias e motivos principais.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713232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132320" y="3977640"/>
            <a:ext cx="178308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0547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em Moda Feminina (45,88%)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20547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metade do volume depende de um único segmento. Sazonalidade negativa visível em agosto-setembro deve ser monitorizada para ajuste de campanhas promocionais.</a:t>
            </a:r>
            <a:endParaRPr lang="en-US" sz="750" dirty="0"/>
          </a:p>
        </p:txBody>
      </p:sp>
      <p:sp>
        <p:nvSpPr>
          <p:cNvPr id="42" name="Shape 1">
            <a:extLst>
              <a:ext uri="{FF2B5EF4-FFF2-40B4-BE49-F238E27FC236}">
                <a16:creationId xmlns:a16="http://schemas.microsoft.com/office/drawing/2014/main" id="{28D692E4-7F42-FA10-C9E6-AD1E7E79949D}"/>
              </a:ext>
            </a:extLst>
          </p:cNvPr>
          <p:cNvSpPr/>
          <p:nvPr/>
        </p:nvSpPr>
        <p:spPr>
          <a:xfrm>
            <a:off x="0" y="-4572"/>
            <a:ext cx="182880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Shape 3">
            <a:extLst>
              <a:ext uri="{FF2B5EF4-FFF2-40B4-BE49-F238E27FC236}">
                <a16:creationId xmlns:a16="http://schemas.microsoft.com/office/drawing/2014/main" id="{382530BA-324B-823E-29A4-BAA1A2DC8D97}"/>
              </a:ext>
            </a:extLst>
          </p:cNvPr>
          <p:cNvSpPr/>
          <p:nvPr/>
        </p:nvSpPr>
        <p:spPr>
          <a:xfrm>
            <a:off x="104503" y="868680"/>
            <a:ext cx="4970417" cy="3977640"/>
          </a:xfrm>
          <a:prstGeom prst="rect">
            <a:avLst/>
          </a:prstGeom>
          <a:solidFill>
            <a:srgbClr val="EFF6FF"/>
          </a:solidFill>
          <a:ln w="12700">
            <a:solidFill>
              <a:srgbClr val="065F4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38815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 Promocionais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funcional: Processo 3: Lançamento de Campanha Promocional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36576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individual: Simão Lopes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 2025/26 · Grupo 05 · Turma 3DH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Campanhas Promocionais — Dashboard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4206240"/>
          </a:xfrm>
          <a:prstGeom prst="rect">
            <a:avLst/>
          </a:prstGeom>
          <a:solidFill>
            <a:srgbClr val="CBD5E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25603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screenshot do dashboard aqui]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Campanhas Promocionais — Lógica de Representação — porquê cada visual escolhido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solidFill>
            <a:srgbClr val="EFF6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A preencher pelo grupo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Conteúdo: Lógica de Representação — porquê cada visual escolhido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Campanhas Promocionais — KPI Extra + Gráfico Extra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Extra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preencher — Simão]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DAX: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3500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fórmula DAX]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8712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mede: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[Descrever o que mede]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6210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8496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[Justificar a escolha]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Extra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1600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preencher — Simão]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visual: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3500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[Tipo de gráfico]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92040" y="28712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3099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 que o gráfico mostra]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36210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8496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[Justificar a escolha]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…—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:…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21208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21208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21208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5,68M€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21208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Negócios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21208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+2,87% YTD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713232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13232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+6,09%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13232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Anual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3232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1208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82880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1208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10,41%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21208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21208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13232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32320" y="182880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71,6%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13232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13232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volume total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521208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28803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sustentado (+6,09%)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28523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confirma a tendência positiva com +6,09% face a 2024 e YTD acima do ano anterior em +2,87%. Margem bruta de 50,97% indica estrutura de custos saudável.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713232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132320" y="288036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29718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dominante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(71,6% do volume)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720547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4,07M€ vs 1,61M€ em canal online. 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continua a ser o principal motor de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RetailMax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contrário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que seria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expectável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retalhista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521208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212080" y="397764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28523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 elevada (10,41%)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28523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 vendas resulta em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devolução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valor acima do que seria expectável. Requer análise aprofundada no Dashboard #3 para identificar categorias e motivos principais.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713232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132320" y="3977640"/>
            <a:ext cx="178308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0547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em Moda Feminina (45,88%)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20547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metade do volume depende de um único segmento. Sazonalidade negativa visível em agosto-setembro deve ser monitorizada para ajuste de campanhas promocionais.</a:t>
            </a:r>
            <a:endParaRPr lang="en-US" sz="750" dirty="0"/>
          </a:p>
        </p:txBody>
      </p:sp>
      <p:sp>
        <p:nvSpPr>
          <p:cNvPr id="42" name="Shape 1">
            <a:extLst>
              <a:ext uri="{FF2B5EF4-FFF2-40B4-BE49-F238E27FC236}">
                <a16:creationId xmlns:a16="http://schemas.microsoft.com/office/drawing/2014/main" id="{83941E66-1547-410F-E387-396FC4BFD7D6}"/>
              </a:ext>
            </a:extLst>
          </p:cNvPr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Shape 3">
            <a:extLst>
              <a:ext uri="{FF2B5EF4-FFF2-40B4-BE49-F238E27FC236}">
                <a16:creationId xmlns:a16="http://schemas.microsoft.com/office/drawing/2014/main" id="{5BDD62A1-7668-565C-149B-7C2853545009}"/>
              </a:ext>
            </a:extLst>
          </p:cNvPr>
          <p:cNvSpPr/>
          <p:nvPr/>
        </p:nvSpPr>
        <p:spPr>
          <a:xfrm>
            <a:off x="104503" y="868680"/>
            <a:ext cx="4970417" cy="3977640"/>
          </a:xfrm>
          <a:prstGeom prst="rect">
            <a:avLst/>
          </a:prstGeom>
          <a:solidFill>
            <a:srgbClr val="EFF6FF"/>
          </a:solidFill>
          <a:ln w="12700">
            <a:solidFill>
              <a:srgbClr val="065F4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482942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RH e Onboarding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funcional: Processo 4: Integração e Onboarding de Novo Colaborador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3657600" cy="0"/>
          </a:xfrm>
          <a:prstGeom prst="line">
            <a:avLst/>
          </a:prstGeom>
          <a:noFill/>
          <a:ln w="12700">
            <a:solidFill>
              <a:srgbClr val="065F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individual: Eduardo Moreira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 2025/26 · Grupo 05 · Turma 3DH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Gestão de RH e Onboarding — Dashboard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4206240"/>
          </a:xfrm>
          <a:prstGeom prst="rect">
            <a:avLst/>
          </a:prstGeom>
          <a:solidFill>
            <a:srgbClr val="CBD5E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25603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screenshot do dashboard aqui]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Gestão de RH e Onboarding — Lógica de Representação — porquê cada visual escolhido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solidFill>
            <a:srgbClr val="EFF6FF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A preencher pelo grupo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Conteúdo: Lógica de Representação — porquê cada visual escolhido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Gestão de RH e Onboarding — KPI Extra + Gráfico Extra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Extra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preencher — Eduardo]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DAX: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3500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fórmula DAX]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8712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mede: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[Descrever o que mede]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6210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8496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[Justificar a escolha]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Extra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16002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preencher — Eduardo]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visual: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3500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[Tipo de gráfico]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92040" y="28712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3099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 que o gráfico mostra]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36210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8496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[Justificar a escolha]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…—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Crítica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:…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21208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21208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21208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5,68M€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21208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Negócios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21208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+2,87% YTD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713232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132320" y="8229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+6,09%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13232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Anual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3232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1208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82880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1208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10,41%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21208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21208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13232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32320" y="182880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71,6%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13232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13232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volume total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521208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288036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sustentado (+6,09%)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28523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confirma a tendência positiva com +6,09% face a 2024 e YTD acima do ano anterior em +2,87%. Margem bruta de 50,97% indica estrutura de custos saudável.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713232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132320" y="2880360"/>
            <a:ext cx="178308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297180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dominante</a:t>
            </a: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(71,6% do volume)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720547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4,07M€ vs 1,61M€ em canal online. 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continua a ser o principal motor de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RetailMax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contrário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que seria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expectável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retalhista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521208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212080" y="397764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28523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Devolução elevada (10,41%)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28523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10 vendas resulta em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devolução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valor acima do que seria expectável. Requer análise aprofundada no Dashboard #3 para identificar categorias e motivos principais.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713232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132320" y="3977640"/>
            <a:ext cx="178308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0547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em Moda Feminina (45,88%)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20547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metade do volume depende de um único segmento. Sazonalidade negativa visível em agosto-setembro deve ser monitorizada para ajuste de campanhas promocionais.</a:t>
            </a:r>
            <a:endParaRPr lang="en-US" sz="750" dirty="0"/>
          </a:p>
        </p:txBody>
      </p:sp>
      <p:sp>
        <p:nvSpPr>
          <p:cNvPr id="42" name="Shape 3">
            <a:extLst>
              <a:ext uri="{FF2B5EF4-FFF2-40B4-BE49-F238E27FC236}">
                <a16:creationId xmlns:a16="http://schemas.microsoft.com/office/drawing/2014/main" id="{A07BF230-E114-DB18-8868-73F81E38727A}"/>
              </a:ext>
            </a:extLst>
          </p:cNvPr>
          <p:cNvSpPr/>
          <p:nvPr/>
        </p:nvSpPr>
        <p:spPr>
          <a:xfrm>
            <a:off x="104503" y="868680"/>
            <a:ext cx="4970417" cy="3977640"/>
          </a:xfrm>
          <a:prstGeom prst="rect">
            <a:avLst/>
          </a:prstGeom>
          <a:solidFill>
            <a:srgbClr val="EFF6FF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3" name="Shape 1">
            <a:extLst>
              <a:ext uri="{FF2B5EF4-FFF2-40B4-BE49-F238E27FC236}">
                <a16:creationId xmlns:a16="http://schemas.microsoft.com/office/drawing/2014/main" id="{38A8689A-5DC9-87B0-A8E4-F483CB336480}"/>
              </a:ext>
            </a:extLst>
          </p:cNvPr>
          <p:cNvSpPr/>
          <p:nvPr/>
        </p:nvSpPr>
        <p:spPr>
          <a:xfrm>
            <a:off x="-18724" y="0"/>
            <a:ext cx="201603" cy="68580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03987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#6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Reclamações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funcional: Processo 5: Gestão de Reclamações de Clientes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36576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individual: Mariana Martins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 2025/26 · Grupo 05 · Turma 3DH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Gestão de Reclamações de Clientes — Dashboard</a:t>
            </a:r>
            <a:endParaRPr lang="en-US" sz="18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7946DEC2-DA2B-01E4-E8B9-73905FD8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209" y="804672"/>
            <a:ext cx="7599581" cy="426811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Gestão de Reclamações — Lógica de Representação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73152" cy="1234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896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Simples (×4)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170432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b="1" dirty="0"/>
              <a:t>Total de Reclamações</a:t>
            </a:r>
            <a:r>
              <a:rPr lang="pt-PT" sz="900" dirty="0"/>
              <a:t>, </a:t>
            </a:r>
            <a:r>
              <a:rPr lang="pt-PT" sz="900" b="1" dirty="0"/>
              <a:t>Taxa de Escalada</a:t>
            </a:r>
            <a:r>
              <a:rPr lang="pt-PT" sz="900" dirty="0"/>
              <a:t>, </a:t>
            </a:r>
            <a:r>
              <a:rPr lang="pt-PT" sz="900" b="1" dirty="0"/>
              <a:t>Tempo Médio de Resposta </a:t>
            </a:r>
            <a:r>
              <a:rPr lang="pt-PT" sz="900" dirty="0"/>
              <a:t>e </a:t>
            </a:r>
            <a:r>
              <a:rPr lang="pt-PT" sz="900" b="1" dirty="0"/>
              <a:t>Reclamações Sem Resposta</a:t>
            </a:r>
            <a:r>
              <a:rPr lang="pt-PT" sz="900" dirty="0"/>
              <a:t> não têm um objetivo único definido, o </a:t>
            </a:r>
            <a:r>
              <a:rPr lang="pt-PT" sz="900" b="1" dirty="0"/>
              <a:t>Tempo Médio </a:t>
            </a:r>
            <a:r>
              <a:rPr lang="pt-PT" sz="900" dirty="0"/>
              <a:t>varia por prioridade (24h/72h/168h) e as restantes não têm </a:t>
            </a:r>
            <a:r>
              <a:rPr lang="pt-PT" sz="900" dirty="0" err="1"/>
              <a:t>benchmark</a:t>
            </a:r>
            <a:r>
              <a:rPr lang="pt-PT" sz="900" dirty="0"/>
              <a:t> interno nos dados. Usar KPI visual mostraria sempre vermelho sem contexto, o que seria enganoso. Reservar o verde/vermelho apenas para a </a:t>
            </a:r>
            <a:r>
              <a:rPr lang="pt-PT" sz="900" b="1" dirty="0"/>
              <a:t>Taxa SLA</a:t>
            </a:r>
            <a:r>
              <a:rPr lang="pt-PT" sz="900" dirty="0"/>
              <a:t> e o </a:t>
            </a:r>
            <a:r>
              <a:rPr lang="pt-PT" sz="900" b="1" dirty="0"/>
              <a:t>NPS</a:t>
            </a:r>
            <a:r>
              <a:rPr lang="pt-PT" sz="900" dirty="0"/>
              <a:t> garante que a cor mantém significado na </a:t>
            </a:r>
            <a:r>
              <a:rPr lang="pt-PT" sz="900" dirty="0" err="1"/>
              <a:t>dashboard</a:t>
            </a:r>
            <a:r>
              <a:rPr lang="pt-PT" sz="900" dirty="0"/>
              <a:t>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22960"/>
            <a:ext cx="73152" cy="1234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896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Visual (×2)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19472" y="1170431"/>
            <a:ext cx="3840480" cy="627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b="1" dirty="0"/>
              <a:t>Taxa de Resolução SLA </a:t>
            </a:r>
            <a:r>
              <a:rPr lang="pt-PT" sz="900" dirty="0"/>
              <a:t>e </a:t>
            </a:r>
            <a:r>
              <a:rPr lang="pt-PT" sz="900" b="1" dirty="0"/>
              <a:t>NPS Médio </a:t>
            </a:r>
            <a:r>
              <a:rPr lang="pt-PT" sz="900" dirty="0"/>
              <a:t>são as únicas métricas com targets inequívocos definidos, </a:t>
            </a:r>
            <a:r>
              <a:rPr lang="pt-PT" sz="900" b="1" dirty="0"/>
              <a:t>93% </a:t>
            </a:r>
            <a:r>
              <a:rPr lang="pt-PT" sz="900" dirty="0"/>
              <a:t>para o SLA e </a:t>
            </a:r>
            <a:r>
              <a:rPr lang="pt-PT" sz="900" b="1" dirty="0"/>
              <a:t>10 </a:t>
            </a:r>
            <a:r>
              <a:rPr lang="pt-PT" sz="900" dirty="0"/>
              <a:t>para o NPS. O verde/vermelho comunica imediatamente se o departamento de apoio ao cliente está a cumprir os níveis de serviço, sem necessidade de interpretação adicional.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1945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194560"/>
            <a:ext cx="73152" cy="1234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23505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Horizontais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056" y="2488964"/>
            <a:ext cx="3840480" cy="9284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b="1" dirty="0"/>
              <a:t>Reclamações por Canal </a:t>
            </a:r>
            <a:r>
              <a:rPr lang="pt-PT" sz="900" dirty="0"/>
              <a:t>e </a:t>
            </a:r>
            <a:r>
              <a:rPr lang="pt-PT" sz="900" b="1" dirty="0"/>
              <a:t>Taxa de Resolução SLA por Canal </a:t>
            </a:r>
            <a:r>
              <a:rPr lang="pt-PT" sz="900" dirty="0"/>
              <a:t>partilham o mesmo tipo de visual por razões complementares. Os nomes dos canais (Formulário Website, Portal da Queixa) são longos e ficariam sobrepostos em barras verticais, comprometendo a legibilidade. Ordenadas de forma decrescente, as barras horizontais tornam imediata a identificação do canal com maior volume, e o segundo gráfico acrescenta a dimensão de qualidade, mostrando quão bem cada canal resolve as reclamações dentro do SLA.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21945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194560"/>
            <a:ext cx="73152" cy="1234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22277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Agrupadas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19472" y="25603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O </a:t>
            </a:r>
            <a:r>
              <a:rPr lang="pt-PT" sz="900" b="1" dirty="0"/>
              <a:t>Tempo de Resposta Real </a:t>
            </a:r>
            <a:r>
              <a:rPr lang="pt-PT" sz="900" b="1" dirty="0" err="1"/>
              <a:t>vs</a:t>
            </a:r>
            <a:r>
              <a:rPr lang="pt-PT" sz="900" b="1" dirty="0"/>
              <a:t> SLA </a:t>
            </a:r>
            <a:r>
              <a:rPr lang="pt-PT" sz="900" dirty="0"/>
              <a:t>requer obrigatoriamente dois valores por categoria, o tempo real e o objetivo definido, o que torna as barras agrupadas a única opção adequada. Para cada prioridade (Alta/Média/Baixa) as duas barras lado a lado tornam imediatamente visível se o tempo real está acima ou abaixo do SLA, sem necessidade de cálculo por parte do utilizador. Um gráfico de linhas ou um donut não conseguiriam comunicar esta comparação com a mesma clareza.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5661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566160"/>
            <a:ext cx="73152" cy="1234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6393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Linhas (×2)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3895344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A </a:t>
            </a:r>
            <a:r>
              <a:rPr lang="pt-PT" sz="900" b="1" dirty="0"/>
              <a:t>Evolução do NPS </a:t>
            </a:r>
            <a:r>
              <a:rPr lang="pt-PT" sz="900" dirty="0"/>
              <a:t>e a </a:t>
            </a:r>
            <a:r>
              <a:rPr lang="pt-PT" sz="900" b="1" dirty="0"/>
              <a:t>Evolução Mensal de Reclamações </a:t>
            </a:r>
            <a:r>
              <a:rPr lang="pt-PT" sz="900" dirty="0"/>
              <a:t>são dados temporais contínuos onde a ligação entre meses é tão relevante quanto os valores individuais. A decomposição por tipo (Produto </a:t>
            </a:r>
            <a:r>
              <a:rPr lang="pt-PT" sz="900" dirty="0" err="1"/>
              <a:t>vs</a:t>
            </a:r>
            <a:r>
              <a:rPr lang="pt-PT" sz="900" dirty="0"/>
              <a:t> Serviço) em duas linhas permite identificar se a origem das reclamações está a mudar ao longo do tempo. A </a:t>
            </a:r>
            <a:r>
              <a:rPr lang="pt-PT" sz="900" b="1" dirty="0"/>
              <a:t>linha de tendência </a:t>
            </a:r>
            <a:r>
              <a:rPr lang="pt-PT" sz="900" dirty="0"/>
              <a:t>no NPS acrescenta uma leitura de direção geral, independente da variação mensal.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3566160"/>
            <a:ext cx="41148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73152" cy="1234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36393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Empilhadas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19472" y="3931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As</a:t>
            </a:r>
            <a:r>
              <a:rPr lang="pt-PT" sz="900" b="1" dirty="0"/>
              <a:t> Reclamações por Prioridade e Mês </a:t>
            </a:r>
            <a:r>
              <a:rPr lang="pt-PT" sz="900" dirty="0"/>
              <a:t>mostra simultaneamente a distribuição interna por prioridade (Alta/Média/Baixa) e a evolução ao longo do tempo, algo que um donut ou barras simples não conseguem comunicar em conjunto. As barras empilhadas são a escolha natural quando o objetivo é ver tanto a composição como a tendência mensal num único visual.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Gestão de Reclamações — KPI Extra + Gráfico Extra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54964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Extra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14638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Reclamações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 Resposta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79810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DAX: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19476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DIVIDE(COUNTROWS(FILTER(Reclamacoes, Reclamacoes[Estado] = "Sem Resposta")), COUNTROWS(Reclamacoes))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3754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mede: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569464"/>
            <a:ext cx="3840480" cy="359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Percentagem de reclamações que nunca receberam qualquer resposta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indicador de abandono de cliente.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293849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127574"/>
            <a:ext cx="3840480" cy="1215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Uma reclamação ignorada tem impacto muito maior na retenção do que uma resolvida fora do SLA, um cliente que não recebe qualquer resposta é um cliente perdido. Este KPI complementa o NPS e a Taxa SLA com a dimensão crítica de abandono, que os outros dois indicadores não capturam: é possível ter uma Taxa SLA de 82% e um NPS de 5,5 sem perceber que 20% dos clientes nunca chegaram a receber sequer uma resposta. A % de Reclamações Sem Resposta torna este problema visível e imediatamente acionável pelo departamento de apoio ao cliente.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22960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886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Extra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1371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1514638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Resolução SLA por Canal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179679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visual: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025395"/>
            <a:ext cx="3840480" cy="228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horizontais com </a:t>
            </a:r>
            <a:r>
              <a:rPr lang="en-US" sz="9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</a:t>
            </a: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 em 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92040" y="2296287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567178"/>
            <a:ext cx="3840480" cy="366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canal (Email, Loja Física, Formulário Website, Portal da Queixa) a % de reclamações resolvidas dentro do prazo SLA definido por prioridade.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293849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167090"/>
            <a:ext cx="384048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dirty="0"/>
              <a:t>O enunciado inclui Reclamações por Canal para análise de volume, mas volume sem qualidade é informação incompleta, um canal pode ter poucas reclamações, mas resolver sistematicamente fora do SLA, ou vice-versa. Este gráfico acrescenta a dimensão de eficiência operacional por canal, permitindo ao departamento de apoio ao cliente identificar onde o processo está a falhar e priorizar ações de melhoria. Um canal com Taxa SLA de 60% requer uma resposta diferente de um canal com 90%, independentemente do volume de reclamações que recebe.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Gestão de Reclamações — Análise Crítica · Filtros: Loja Física | Prioridade Média | 2025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21208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212080" y="822960"/>
            <a:ext cx="1783080" cy="45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21208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21208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Reclamações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21208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Física · Média · 2025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7132320" y="82296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132320" y="82296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0" y="9144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84,21%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132320" y="131673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SLA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32320" y="1499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93%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1208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82880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1208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21208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Médio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21208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10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132320" y="1828800"/>
            <a:ext cx="1783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132320" y="182880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0" y="1920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21,65%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132320" y="2322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Reclamações</a:t>
            </a: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 Resposta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132320" y="250545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em cada 5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521208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288036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abaixo do objetivo (84,21% vs 93%)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28523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filtrando apenas Loja Física e prioridade Média, o SLA continua abaixo do objetivo. Indica um problema transversal ao canal, não específico de uma prioridade.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7132320" y="288036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132320" y="2880360"/>
            <a:ext cx="178308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</a:t>
            </a:r>
            <a:r>
              <a:rPr lang="en-US" sz="800" b="1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preocupante</a:t>
            </a: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5,63/10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7205472" y="32278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da Loja Física com reclamações de prioridade Média ficam sistematicamente insatisfeitos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risco elevado de não regressarem à loja.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521208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212080" y="3977640"/>
            <a:ext cx="178308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28523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21,65% sem qualquer resposta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28523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1 em cada 5 reclamações na Loja Física fica sem resposta. Num canal presencial isto é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especialmente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cliente espera resolução imediata.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7132320" y="3977640"/>
            <a:ext cx="1783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132320" y="3977640"/>
            <a:ext cx="17830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05472" y="4069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médio de 43,3h vs SLA 72h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7205472" y="432511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prioridade Média na Loja Física cumpre o SLA de tempo (43,3h &lt; 72h) mas a taxa de resolução global (84,21%) indica que muitas ficam por resolver.</a:t>
            </a:r>
            <a:endParaRPr lang="en-US" sz="750" dirty="0"/>
          </a:p>
        </p:txBody>
      </p:sp>
      <p:pic>
        <p:nvPicPr>
          <p:cNvPr id="43" name="Imagem 42" descr="Uma imagem com texto, captura de ecrã, diagrama, Paralelo&#10;&#10;Os conteúdos gerados por IA poderão estar incorretos.">
            <a:extLst>
              <a:ext uri="{FF2B5EF4-FFF2-40B4-BE49-F238E27FC236}">
                <a16:creationId xmlns:a16="http://schemas.microsoft.com/office/drawing/2014/main" id="{6ABB5E9A-B4D4-9A71-E002-9691755E2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7" y="1041763"/>
            <a:ext cx="4992624" cy="37229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3963</Words>
  <Application>Microsoft Office PowerPoint</Application>
  <PresentationFormat>Apresentação no Ecrã (16:9)</PresentationFormat>
  <Paragraphs>442</Paragraphs>
  <Slides>35</Slides>
  <Notes>35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RetailMax - Business KPIs &amp; Dashboards</dc:title>
  <dc:subject>PptxGenJS Presentation</dc:subject>
  <dc:creator>PptxGenJS</dc:creator>
  <cp:lastModifiedBy>Mariana Martins</cp:lastModifiedBy>
  <cp:revision>11</cp:revision>
  <dcterms:created xsi:type="dcterms:W3CDTF">2026-06-04T14:52:08Z</dcterms:created>
  <dcterms:modified xsi:type="dcterms:W3CDTF">2026-06-05T13:44:28Z</dcterms:modified>
</cp:coreProperties>
</file>